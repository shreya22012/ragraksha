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obby Jones" charset="1" panose="00000000000000000000"/>
      <p:regular r:id="rId17"/>
    </p:embeddedFont>
    <p:embeddedFont>
      <p:font typeface="Canva Sans Bold" charset="1" panose="020B0803030501040103"/>
      <p:regular r:id="rId18"/>
    </p:embeddedFont>
    <p:embeddedFont>
      <p:font typeface="Glacial Indifference Bold" charset="1" panose="00000800000000000000"/>
      <p:regular r:id="rId19"/>
    </p:embeddedFont>
    <p:embeddedFont>
      <p:font typeface="Glacial Indifference"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 Id="rId7"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2" Target="../media/image2.png" Type="http://schemas.openxmlformats.org/officeDocument/2006/relationships/image"/><Relationship Id="rId3" Target="../media/image14.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248010">
            <a:off x="11440493" y="6704994"/>
            <a:ext cx="6965346" cy="6228181"/>
          </a:xfrm>
          <a:custGeom>
            <a:avLst/>
            <a:gdLst/>
            <a:ahLst/>
            <a:cxnLst/>
            <a:rect r="r" b="b" t="t" l="l"/>
            <a:pathLst>
              <a:path h="6228181" w="6965346">
                <a:moveTo>
                  <a:pt x="0" y="0"/>
                </a:moveTo>
                <a:lnTo>
                  <a:pt x="6965346" y="0"/>
                </a:lnTo>
                <a:lnTo>
                  <a:pt x="6965346" y="6228180"/>
                </a:lnTo>
                <a:lnTo>
                  <a:pt x="0" y="6228180"/>
                </a:lnTo>
                <a:lnTo>
                  <a:pt x="0" y="0"/>
                </a:lnTo>
                <a:close/>
              </a:path>
            </a:pathLst>
          </a:custGeom>
          <a:blipFill>
            <a:blip r:embed="rId2"/>
            <a:stretch>
              <a:fillRect l="0" t="0" r="0" b="0"/>
            </a:stretch>
          </a:blipFill>
        </p:spPr>
      </p:sp>
      <p:sp>
        <p:nvSpPr>
          <p:cNvPr name="Freeform 3" id="3"/>
          <p:cNvSpPr/>
          <p:nvPr/>
        </p:nvSpPr>
        <p:spPr>
          <a:xfrm flipH="false" flipV="false" rot="-1390491">
            <a:off x="14974241" y="2305683"/>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3"/>
            <a:stretch>
              <a:fillRect l="0" t="0" r="0" b="0"/>
            </a:stretch>
          </a:blipFill>
        </p:spPr>
      </p:sp>
      <p:sp>
        <p:nvSpPr>
          <p:cNvPr name="Freeform 4" id="4"/>
          <p:cNvSpPr/>
          <p:nvPr/>
        </p:nvSpPr>
        <p:spPr>
          <a:xfrm flipH="false" flipV="false" rot="-5400000">
            <a:off x="-2453973" y="4996261"/>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3"/>
            <a:stretch>
              <a:fillRect l="0" t="0" r="0" b="0"/>
            </a:stretch>
          </a:blipFill>
        </p:spPr>
      </p:sp>
      <p:sp>
        <p:nvSpPr>
          <p:cNvPr name="Freeform 5" id="5"/>
          <p:cNvSpPr/>
          <p:nvPr/>
        </p:nvSpPr>
        <p:spPr>
          <a:xfrm flipH="false" flipV="false" rot="-5400000">
            <a:off x="-4137210" y="-2270151"/>
            <a:ext cx="6965346" cy="7967984"/>
          </a:xfrm>
          <a:custGeom>
            <a:avLst/>
            <a:gdLst/>
            <a:ahLst/>
            <a:cxnLst/>
            <a:rect r="r" b="b" t="t" l="l"/>
            <a:pathLst>
              <a:path h="7967984" w="6965346">
                <a:moveTo>
                  <a:pt x="0" y="0"/>
                </a:moveTo>
                <a:lnTo>
                  <a:pt x="6965347" y="0"/>
                </a:lnTo>
                <a:lnTo>
                  <a:pt x="6965347" y="7967985"/>
                </a:lnTo>
                <a:lnTo>
                  <a:pt x="0" y="7967985"/>
                </a:lnTo>
                <a:lnTo>
                  <a:pt x="0" y="0"/>
                </a:lnTo>
                <a:close/>
              </a:path>
            </a:pathLst>
          </a:custGeom>
          <a:blipFill>
            <a:blip r:embed="rId3"/>
            <a:stretch>
              <a:fillRect l="0" t="0" r="0" b="0"/>
            </a:stretch>
          </a:blipFill>
        </p:spPr>
      </p:sp>
      <p:sp>
        <p:nvSpPr>
          <p:cNvPr name="Freeform 6" id="6"/>
          <p:cNvSpPr/>
          <p:nvPr/>
        </p:nvSpPr>
        <p:spPr>
          <a:xfrm flipH="false" flipV="false" rot="3293269">
            <a:off x="1487687" y="6347986"/>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293269">
            <a:off x="11438361" y="8451255"/>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463619">
            <a:off x="10273960" y="1718017"/>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125556">
            <a:off x="16694961" y="4748228"/>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293154">
            <a:off x="4029566" y="1734251"/>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5400000">
            <a:off x="166110" y="636525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5400000">
            <a:off x="15342183" y="7189198"/>
            <a:ext cx="3482673" cy="3058420"/>
          </a:xfrm>
          <a:custGeom>
            <a:avLst/>
            <a:gdLst/>
            <a:ahLst/>
            <a:cxnLst/>
            <a:rect r="r" b="b" t="t" l="l"/>
            <a:pathLst>
              <a:path h="3058420" w="3482673">
                <a:moveTo>
                  <a:pt x="0" y="0"/>
                </a:moveTo>
                <a:lnTo>
                  <a:pt x="3482673" y="0"/>
                </a:lnTo>
                <a:lnTo>
                  <a:pt x="3482673" y="3058420"/>
                </a:lnTo>
                <a:lnTo>
                  <a:pt x="0" y="30584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5400000">
            <a:off x="-425070" y="-557499"/>
            <a:ext cx="3482673" cy="3172399"/>
          </a:xfrm>
          <a:custGeom>
            <a:avLst/>
            <a:gdLst/>
            <a:ahLst/>
            <a:cxnLst/>
            <a:rect r="r" b="b" t="t" l="l"/>
            <a:pathLst>
              <a:path h="3172399" w="3482673">
                <a:moveTo>
                  <a:pt x="0" y="0"/>
                </a:moveTo>
                <a:lnTo>
                  <a:pt x="3482674" y="0"/>
                </a:lnTo>
                <a:lnTo>
                  <a:pt x="3482674" y="3172398"/>
                </a:lnTo>
                <a:lnTo>
                  <a:pt x="0" y="31723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4013618">
            <a:off x="3973460" y="7759840"/>
            <a:ext cx="6965346" cy="7967984"/>
          </a:xfrm>
          <a:custGeom>
            <a:avLst/>
            <a:gdLst/>
            <a:ahLst/>
            <a:cxnLst/>
            <a:rect r="r" b="b" t="t" l="l"/>
            <a:pathLst>
              <a:path h="7967984" w="6965346">
                <a:moveTo>
                  <a:pt x="0" y="0"/>
                </a:moveTo>
                <a:lnTo>
                  <a:pt x="6965347" y="0"/>
                </a:lnTo>
                <a:lnTo>
                  <a:pt x="6965347" y="7967984"/>
                </a:lnTo>
                <a:lnTo>
                  <a:pt x="0" y="7967984"/>
                </a:lnTo>
                <a:lnTo>
                  <a:pt x="0" y="0"/>
                </a:lnTo>
                <a:close/>
              </a:path>
            </a:pathLst>
          </a:custGeom>
          <a:blipFill>
            <a:blip r:embed="rId3"/>
            <a:stretch>
              <a:fillRect l="0" t="0" r="0" b="0"/>
            </a:stretch>
          </a:blipFill>
        </p:spPr>
      </p:sp>
      <p:sp>
        <p:nvSpPr>
          <p:cNvPr name="Freeform 15" id="15"/>
          <p:cNvSpPr/>
          <p:nvPr/>
        </p:nvSpPr>
        <p:spPr>
          <a:xfrm flipH="false" flipV="false" rot="-6256644">
            <a:off x="-2151113" y="3947660"/>
            <a:ext cx="4509781" cy="2574675"/>
          </a:xfrm>
          <a:custGeom>
            <a:avLst/>
            <a:gdLst/>
            <a:ahLst/>
            <a:cxnLst/>
            <a:rect r="r" b="b" t="t" l="l"/>
            <a:pathLst>
              <a:path h="2574675" w="4509781">
                <a:moveTo>
                  <a:pt x="0" y="0"/>
                </a:moveTo>
                <a:lnTo>
                  <a:pt x="4509781" y="0"/>
                </a:lnTo>
                <a:lnTo>
                  <a:pt x="4509781" y="2574675"/>
                </a:lnTo>
                <a:lnTo>
                  <a:pt x="0" y="257467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10174465">
            <a:off x="9866357" y="9102727"/>
            <a:ext cx="4148729" cy="2368547"/>
          </a:xfrm>
          <a:custGeom>
            <a:avLst/>
            <a:gdLst/>
            <a:ahLst/>
            <a:cxnLst/>
            <a:rect r="r" b="b" t="t" l="l"/>
            <a:pathLst>
              <a:path h="2368547" w="4148729">
                <a:moveTo>
                  <a:pt x="0" y="0"/>
                </a:moveTo>
                <a:lnTo>
                  <a:pt x="4148729" y="0"/>
                </a:lnTo>
                <a:lnTo>
                  <a:pt x="4148729" y="2368546"/>
                </a:lnTo>
                <a:lnTo>
                  <a:pt x="0" y="23685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9248010">
            <a:off x="13888289" y="-2292095"/>
            <a:ext cx="6965346" cy="6228181"/>
          </a:xfrm>
          <a:custGeom>
            <a:avLst/>
            <a:gdLst/>
            <a:ahLst/>
            <a:cxnLst/>
            <a:rect r="r" b="b" t="t" l="l"/>
            <a:pathLst>
              <a:path h="6228181" w="6965346">
                <a:moveTo>
                  <a:pt x="0" y="0"/>
                </a:moveTo>
                <a:lnTo>
                  <a:pt x="6965346" y="0"/>
                </a:lnTo>
                <a:lnTo>
                  <a:pt x="6965346" y="6228181"/>
                </a:lnTo>
                <a:lnTo>
                  <a:pt x="0" y="6228181"/>
                </a:lnTo>
                <a:lnTo>
                  <a:pt x="0" y="0"/>
                </a:lnTo>
                <a:close/>
              </a:path>
            </a:pathLst>
          </a:custGeom>
          <a:blipFill>
            <a:blip r:embed="rId2"/>
            <a:stretch>
              <a:fillRect l="0" t="0" r="0" b="0"/>
            </a:stretch>
          </a:blipFill>
        </p:spPr>
      </p:sp>
      <p:sp>
        <p:nvSpPr>
          <p:cNvPr name="Freeform 18" id="18"/>
          <p:cNvSpPr/>
          <p:nvPr/>
        </p:nvSpPr>
        <p:spPr>
          <a:xfrm flipH="false" flipV="false" rot="-5400000">
            <a:off x="14998411" y="-1362219"/>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4260604" y="1227600"/>
            <a:ext cx="7457026" cy="3009349"/>
          </a:xfrm>
          <a:custGeom>
            <a:avLst/>
            <a:gdLst/>
            <a:ahLst/>
            <a:cxnLst/>
            <a:rect r="r" b="b" t="t" l="l"/>
            <a:pathLst>
              <a:path h="3009349" w="7457026">
                <a:moveTo>
                  <a:pt x="0" y="0"/>
                </a:moveTo>
                <a:lnTo>
                  <a:pt x="7457026" y="0"/>
                </a:lnTo>
                <a:lnTo>
                  <a:pt x="7457026" y="3009349"/>
                </a:lnTo>
                <a:lnTo>
                  <a:pt x="0" y="3009349"/>
                </a:lnTo>
                <a:lnTo>
                  <a:pt x="0" y="0"/>
                </a:lnTo>
                <a:close/>
              </a:path>
            </a:pathLst>
          </a:custGeom>
          <a:blipFill>
            <a:blip r:embed="rId14">
              <a:alphaModFix amt="97000"/>
            </a:blip>
            <a:stretch>
              <a:fillRect l="0" t="-212" r="0" b="-212"/>
            </a:stretch>
          </a:blipFill>
        </p:spPr>
      </p:sp>
      <p:sp>
        <p:nvSpPr>
          <p:cNvPr name="Freeform 20" id="20"/>
          <p:cNvSpPr/>
          <p:nvPr/>
        </p:nvSpPr>
        <p:spPr>
          <a:xfrm flipH="false" flipV="false" rot="-6419106">
            <a:off x="6675365" y="-4785385"/>
            <a:ext cx="6191655" cy="8329581"/>
          </a:xfrm>
          <a:custGeom>
            <a:avLst/>
            <a:gdLst/>
            <a:ahLst/>
            <a:cxnLst/>
            <a:rect r="r" b="b" t="t" l="l"/>
            <a:pathLst>
              <a:path h="8329581" w="6191655">
                <a:moveTo>
                  <a:pt x="0" y="0"/>
                </a:moveTo>
                <a:lnTo>
                  <a:pt x="6191655" y="0"/>
                </a:lnTo>
                <a:lnTo>
                  <a:pt x="6191655" y="8329581"/>
                </a:lnTo>
                <a:lnTo>
                  <a:pt x="0" y="8329581"/>
                </a:lnTo>
                <a:lnTo>
                  <a:pt x="0" y="0"/>
                </a:lnTo>
                <a:close/>
              </a:path>
            </a:pathLst>
          </a:custGeom>
          <a:blipFill>
            <a:blip r:embed="rId15"/>
            <a:stretch>
              <a:fillRect l="0" t="0" r="0" b="0"/>
            </a:stretch>
          </a:blipFill>
        </p:spPr>
      </p:sp>
      <p:sp>
        <p:nvSpPr>
          <p:cNvPr name="Freeform 21" id="21"/>
          <p:cNvSpPr/>
          <p:nvPr/>
        </p:nvSpPr>
        <p:spPr>
          <a:xfrm flipH="false" flipV="false" rot="-1321842">
            <a:off x="6808341" y="-1058771"/>
            <a:ext cx="4148729" cy="2368547"/>
          </a:xfrm>
          <a:custGeom>
            <a:avLst/>
            <a:gdLst/>
            <a:ahLst/>
            <a:cxnLst/>
            <a:rect r="r" b="b" t="t" l="l"/>
            <a:pathLst>
              <a:path h="2368547" w="4148729">
                <a:moveTo>
                  <a:pt x="0" y="0"/>
                </a:moveTo>
                <a:lnTo>
                  <a:pt x="4148729" y="0"/>
                </a:lnTo>
                <a:lnTo>
                  <a:pt x="4148729" y="2368546"/>
                </a:lnTo>
                <a:lnTo>
                  <a:pt x="0" y="23685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4013618">
            <a:off x="8745501" y="-5513125"/>
            <a:ext cx="6965346" cy="7967984"/>
          </a:xfrm>
          <a:custGeom>
            <a:avLst/>
            <a:gdLst/>
            <a:ahLst/>
            <a:cxnLst/>
            <a:rect r="r" b="b" t="t" l="l"/>
            <a:pathLst>
              <a:path h="7967984" w="6965346">
                <a:moveTo>
                  <a:pt x="0" y="0"/>
                </a:moveTo>
                <a:lnTo>
                  <a:pt x="6965347" y="0"/>
                </a:lnTo>
                <a:lnTo>
                  <a:pt x="6965347" y="7967984"/>
                </a:lnTo>
                <a:lnTo>
                  <a:pt x="0" y="7967984"/>
                </a:lnTo>
                <a:lnTo>
                  <a:pt x="0" y="0"/>
                </a:lnTo>
                <a:close/>
              </a:path>
            </a:pathLst>
          </a:custGeom>
          <a:blipFill>
            <a:blip r:embed="rId3"/>
            <a:stretch>
              <a:fillRect l="0" t="0" r="0" b="0"/>
            </a:stretch>
          </a:blipFill>
        </p:spPr>
      </p:sp>
      <p:sp>
        <p:nvSpPr>
          <p:cNvPr name="Freeform 23" id="23"/>
          <p:cNvSpPr/>
          <p:nvPr/>
        </p:nvSpPr>
        <p:spPr>
          <a:xfrm flipH="false" flipV="false" rot="-7494932">
            <a:off x="1645530" y="-4877427"/>
            <a:ext cx="6191655" cy="8329581"/>
          </a:xfrm>
          <a:custGeom>
            <a:avLst/>
            <a:gdLst/>
            <a:ahLst/>
            <a:cxnLst/>
            <a:rect r="r" b="b" t="t" l="l"/>
            <a:pathLst>
              <a:path h="8329581" w="6191655">
                <a:moveTo>
                  <a:pt x="0" y="0"/>
                </a:moveTo>
                <a:lnTo>
                  <a:pt x="6191655" y="0"/>
                </a:lnTo>
                <a:lnTo>
                  <a:pt x="6191655" y="8329581"/>
                </a:lnTo>
                <a:lnTo>
                  <a:pt x="0" y="8329581"/>
                </a:lnTo>
                <a:lnTo>
                  <a:pt x="0" y="0"/>
                </a:lnTo>
                <a:close/>
              </a:path>
            </a:pathLst>
          </a:custGeom>
          <a:blipFill>
            <a:blip r:embed="rId15"/>
            <a:stretch>
              <a:fillRect l="0" t="0" r="0" b="0"/>
            </a:stretch>
          </a:blipFill>
        </p:spPr>
      </p:sp>
      <p:sp>
        <p:nvSpPr>
          <p:cNvPr name="TextBox 24" id="24"/>
          <p:cNvSpPr txBox="true"/>
          <p:nvPr/>
        </p:nvSpPr>
        <p:spPr>
          <a:xfrm rot="0">
            <a:off x="4741357" y="5328477"/>
            <a:ext cx="7972325" cy="1230754"/>
          </a:xfrm>
          <a:prstGeom prst="rect">
            <a:avLst/>
          </a:prstGeom>
        </p:spPr>
        <p:txBody>
          <a:bodyPr anchor="t" rtlCol="false" tIns="0" lIns="0" bIns="0" rIns="0">
            <a:spAutoFit/>
          </a:bodyPr>
          <a:lstStyle/>
          <a:p>
            <a:pPr algn="ctr">
              <a:lnSpc>
                <a:spcPts val="9025"/>
              </a:lnSpc>
              <a:spcBef>
                <a:spcPct val="0"/>
              </a:spcBef>
            </a:pPr>
            <a:r>
              <a:rPr lang="en-US" sz="9025">
                <a:solidFill>
                  <a:srgbClr val="000000"/>
                </a:solidFill>
                <a:latin typeface="Bobby Jones"/>
                <a:ea typeface="Bobby Jones"/>
                <a:cs typeface="Bobby Jones"/>
                <a:sym typeface="Bobby Jones"/>
              </a:rPr>
              <a:t>Project Phase-II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248010">
            <a:off x="-1327874" y="-3473992"/>
            <a:ext cx="20943749" cy="17234984"/>
          </a:xfrm>
          <a:custGeom>
            <a:avLst/>
            <a:gdLst/>
            <a:ahLst/>
            <a:cxnLst/>
            <a:rect r="r" b="b" t="t" l="l"/>
            <a:pathLst>
              <a:path h="17234984" w="20943749">
                <a:moveTo>
                  <a:pt x="20943748" y="9256378"/>
                </a:moveTo>
                <a:lnTo>
                  <a:pt x="4487966" y="17234984"/>
                </a:lnTo>
                <a:lnTo>
                  <a:pt x="0" y="7978606"/>
                </a:lnTo>
                <a:lnTo>
                  <a:pt x="16455782" y="0"/>
                </a:lnTo>
                <a:lnTo>
                  <a:pt x="20943748" y="9256378"/>
                </a:lnTo>
                <a:close/>
              </a:path>
            </a:pathLst>
          </a:custGeom>
          <a:blipFill>
            <a:blip r:embed="rId2"/>
            <a:stretch>
              <a:fillRect l="0" t="-4329" r="0" b="-4329"/>
            </a:stretch>
          </a:blipFill>
        </p:spPr>
      </p:sp>
      <p:sp>
        <p:nvSpPr>
          <p:cNvPr name="Freeform 3" id="3"/>
          <p:cNvSpPr/>
          <p:nvPr/>
        </p:nvSpPr>
        <p:spPr>
          <a:xfrm flipH="false" flipV="false" rot="3440733">
            <a:off x="572382" y="6521150"/>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36491" y="2123689"/>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166110" y="636525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6014964">
            <a:off x="-178150" y="122485"/>
            <a:ext cx="3482673" cy="3172399"/>
          </a:xfrm>
          <a:custGeom>
            <a:avLst/>
            <a:gdLst/>
            <a:ahLst/>
            <a:cxnLst/>
            <a:rect r="r" b="b" t="t" l="l"/>
            <a:pathLst>
              <a:path h="3172399" w="3482673">
                <a:moveTo>
                  <a:pt x="0" y="0"/>
                </a:moveTo>
                <a:lnTo>
                  <a:pt x="3482673" y="0"/>
                </a:lnTo>
                <a:lnTo>
                  <a:pt x="3482673" y="3172399"/>
                </a:lnTo>
                <a:lnTo>
                  <a:pt x="0" y="31723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0174465">
            <a:off x="14216549" y="8557441"/>
            <a:ext cx="4148729" cy="2368547"/>
          </a:xfrm>
          <a:custGeom>
            <a:avLst/>
            <a:gdLst/>
            <a:ahLst/>
            <a:cxnLst/>
            <a:rect r="r" b="b" t="t" l="l"/>
            <a:pathLst>
              <a:path h="2368547" w="4148729">
                <a:moveTo>
                  <a:pt x="0" y="0"/>
                </a:moveTo>
                <a:lnTo>
                  <a:pt x="4148729" y="0"/>
                </a:lnTo>
                <a:lnTo>
                  <a:pt x="4148729" y="2368546"/>
                </a:lnTo>
                <a:lnTo>
                  <a:pt x="0" y="23685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5400000">
            <a:off x="17056456" y="-1324458"/>
            <a:ext cx="3482673" cy="4706315"/>
          </a:xfrm>
          <a:custGeom>
            <a:avLst/>
            <a:gdLst/>
            <a:ahLst/>
            <a:cxnLst/>
            <a:rect r="r" b="b" t="t" l="l"/>
            <a:pathLst>
              <a:path h="4706315" w="3482673">
                <a:moveTo>
                  <a:pt x="0" y="0"/>
                </a:moveTo>
                <a:lnTo>
                  <a:pt x="3482674" y="0"/>
                </a:lnTo>
                <a:lnTo>
                  <a:pt x="3482674" y="4706316"/>
                </a:lnTo>
                <a:lnTo>
                  <a:pt x="0" y="47063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5303594" y="1251024"/>
            <a:ext cx="6863220" cy="2031987"/>
          </a:xfrm>
          <a:prstGeom prst="rect">
            <a:avLst/>
          </a:prstGeom>
        </p:spPr>
        <p:txBody>
          <a:bodyPr anchor="t" rtlCol="false" tIns="0" lIns="0" bIns="0" rIns="0">
            <a:spAutoFit/>
          </a:bodyPr>
          <a:lstStyle/>
          <a:p>
            <a:pPr algn="ctr">
              <a:lnSpc>
                <a:spcPts val="16473"/>
              </a:lnSpc>
            </a:pPr>
            <a:r>
              <a:rPr lang="en-US" sz="11766">
                <a:solidFill>
                  <a:srgbClr val="000000"/>
                </a:solidFill>
                <a:latin typeface="Bobby Jones"/>
                <a:ea typeface="Bobby Jones"/>
                <a:cs typeface="Bobby Jones"/>
                <a:sym typeface="Bobby Jones"/>
              </a:rPr>
              <a:t>Our Team</a:t>
            </a:r>
          </a:p>
        </p:txBody>
      </p:sp>
      <p:sp>
        <p:nvSpPr>
          <p:cNvPr name="TextBox 10" id="10"/>
          <p:cNvSpPr txBox="true"/>
          <p:nvPr/>
        </p:nvSpPr>
        <p:spPr>
          <a:xfrm rot="0">
            <a:off x="1646581" y="4797766"/>
            <a:ext cx="3536571" cy="1022985"/>
          </a:xfrm>
          <a:prstGeom prst="rect">
            <a:avLst/>
          </a:prstGeom>
        </p:spPr>
        <p:txBody>
          <a:bodyPr anchor="t" rtlCol="false" tIns="0" lIns="0" bIns="0" rIns="0">
            <a:spAutoFit/>
          </a:bodyPr>
          <a:lstStyle/>
          <a:p>
            <a:pPr algn="ctr">
              <a:lnSpc>
                <a:spcPts val="4185"/>
              </a:lnSpc>
            </a:pPr>
            <a:r>
              <a:rPr lang="en-US" sz="2700" b="true">
                <a:solidFill>
                  <a:srgbClr val="000000"/>
                </a:solidFill>
                <a:latin typeface="Canva Sans Bold"/>
                <a:ea typeface="Canva Sans Bold"/>
                <a:cs typeface="Canva Sans Bold"/>
                <a:sym typeface="Canva Sans Bold"/>
              </a:rPr>
              <a:t>Poorvi Aggarwal (1/23/SET/BCS/189)   </a:t>
            </a:r>
          </a:p>
        </p:txBody>
      </p:sp>
      <p:sp>
        <p:nvSpPr>
          <p:cNvPr name="TextBox 11" id="11"/>
          <p:cNvSpPr txBox="true"/>
          <p:nvPr/>
        </p:nvSpPr>
        <p:spPr>
          <a:xfrm rot="0">
            <a:off x="5994856" y="4879681"/>
            <a:ext cx="3433003" cy="941070"/>
          </a:xfrm>
          <a:prstGeom prst="rect">
            <a:avLst/>
          </a:prstGeom>
        </p:spPr>
        <p:txBody>
          <a:bodyPr anchor="t" rtlCol="false" tIns="0" lIns="0" bIns="0" rIns="0">
            <a:spAutoFit/>
          </a:bodyPr>
          <a:lstStyle/>
          <a:p>
            <a:pPr algn="ctr">
              <a:lnSpc>
                <a:spcPts val="3780"/>
              </a:lnSpc>
            </a:pPr>
            <a:r>
              <a:rPr lang="en-US" sz="2700" b="true">
                <a:solidFill>
                  <a:srgbClr val="000000"/>
                </a:solidFill>
                <a:latin typeface="Canva Sans Bold"/>
                <a:ea typeface="Canva Sans Bold"/>
                <a:cs typeface="Canva Sans Bold"/>
                <a:sym typeface="Canva Sans Bold"/>
              </a:rPr>
              <a:t>Shreya </a:t>
            </a:r>
            <a:r>
              <a:rPr lang="en-US" b="true" sz="2700">
                <a:solidFill>
                  <a:srgbClr val="000000"/>
                </a:solidFill>
                <a:latin typeface="Canva Sans Bold"/>
                <a:ea typeface="Canva Sans Bold"/>
                <a:cs typeface="Canva Sans Bold"/>
                <a:sym typeface="Canva Sans Bold"/>
              </a:rPr>
              <a:t>Aggarwal (1/23/SE/BCS/205) </a:t>
            </a:r>
          </a:p>
        </p:txBody>
      </p:sp>
      <p:sp>
        <p:nvSpPr>
          <p:cNvPr name="TextBox 12" id="12"/>
          <p:cNvSpPr txBox="true"/>
          <p:nvPr/>
        </p:nvSpPr>
        <p:spPr>
          <a:xfrm rot="0">
            <a:off x="10136683" y="4879681"/>
            <a:ext cx="3433003" cy="941070"/>
          </a:xfrm>
          <a:prstGeom prst="rect">
            <a:avLst/>
          </a:prstGeom>
        </p:spPr>
        <p:txBody>
          <a:bodyPr anchor="t" rtlCol="false" tIns="0" lIns="0" bIns="0" rIns="0">
            <a:spAutoFit/>
          </a:bodyPr>
          <a:lstStyle/>
          <a:p>
            <a:pPr algn="ctr">
              <a:lnSpc>
                <a:spcPts val="3780"/>
              </a:lnSpc>
            </a:pPr>
            <a:r>
              <a:rPr lang="en-US" sz="2700" b="true">
                <a:solidFill>
                  <a:srgbClr val="000000"/>
                </a:solidFill>
                <a:latin typeface="Canva Sans Bold"/>
                <a:ea typeface="Canva Sans Bold"/>
                <a:cs typeface="Canva Sans Bold"/>
                <a:sym typeface="Canva Sans Bold"/>
              </a:rPr>
              <a:t>Uttkarsh Lohan (1/23/SET/BCS/266) </a:t>
            </a:r>
          </a:p>
        </p:txBody>
      </p:sp>
      <p:sp>
        <p:nvSpPr>
          <p:cNvPr name="TextBox 13" id="13"/>
          <p:cNvSpPr txBox="true"/>
          <p:nvPr/>
        </p:nvSpPr>
        <p:spPr>
          <a:xfrm rot="0">
            <a:off x="14164209" y="4879681"/>
            <a:ext cx="3433003" cy="941070"/>
          </a:xfrm>
          <a:prstGeom prst="rect">
            <a:avLst/>
          </a:prstGeom>
        </p:spPr>
        <p:txBody>
          <a:bodyPr anchor="t" rtlCol="false" tIns="0" lIns="0" bIns="0" rIns="0">
            <a:spAutoFit/>
          </a:bodyPr>
          <a:lstStyle/>
          <a:p>
            <a:pPr algn="ctr">
              <a:lnSpc>
                <a:spcPts val="3780"/>
              </a:lnSpc>
            </a:pPr>
            <a:r>
              <a:rPr lang="en-US" sz="2700" b="true">
                <a:solidFill>
                  <a:srgbClr val="000000"/>
                </a:solidFill>
                <a:latin typeface="Canva Sans Bold"/>
                <a:ea typeface="Canva Sans Bold"/>
                <a:cs typeface="Canva Sans Bold"/>
                <a:sym typeface="Canva Sans Bold"/>
              </a:rPr>
              <a:t>Rituraj Sh</a:t>
            </a:r>
            <a:r>
              <a:rPr lang="en-US" b="true" sz="2700">
                <a:solidFill>
                  <a:srgbClr val="000000"/>
                </a:solidFill>
                <a:latin typeface="Canva Sans Bold"/>
                <a:ea typeface="Canva Sans Bold"/>
                <a:cs typeface="Canva Sans Bold"/>
                <a:sym typeface="Canva Sans Bold"/>
              </a:rPr>
              <a:t>arma (1/23/SET/BCS/275)</a:t>
            </a:r>
          </a:p>
        </p:txBody>
      </p:sp>
      <p:sp>
        <p:nvSpPr>
          <p:cNvPr name="TextBox 14" id="14"/>
          <p:cNvSpPr txBox="true"/>
          <p:nvPr/>
        </p:nvSpPr>
        <p:spPr>
          <a:xfrm rot="0">
            <a:off x="7025819" y="7463114"/>
            <a:ext cx="4109115" cy="738504"/>
          </a:xfrm>
          <a:prstGeom prst="rect">
            <a:avLst/>
          </a:prstGeom>
        </p:spPr>
        <p:txBody>
          <a:bodyPr anchor="t" rtlCol="false" tIns="0" lIns="0" bIns="0" rIns="0">
            <a:spAutoFit/>
          </a:bodyPr>
          <a:lstStyle/>
          <a:p>
            <a:pPr algn="ctr">
              <a:lnSpc>
                <a:spcPts val="6020"/>
              </a:lnSpc>
            </a:pPr>
            <a:r>
              <a:rPr lang="en-US" sz="4300" b="true">
                <a:solidFill>
                  <a:srgbClr val="000000"/>
                </a:solidFill>
                <a:latin typeface="Canva Sans Bold"/>
                <a:ea typeface="Canva Sans Bold"/>
                <a:cs typeface="Canva Sans Bold"/>
                <a:sym typeface="Canva Sans Bold"/>
              </a:rPr>
              <a:t>Project Guide:</a:t>
            </a:r>
          </a:p>
        </p:txBody>
      </p:sp>
      <p:sp>
        <p:nvSpPr>
          <p:cNvPr name="TextBox 15" id="15"/>
          <p:cNvSpPr txBox="true"/>
          <p:nvPr/>
        </p:nvSpPr>
        <p:spPr>
          <a:xfrm rot="0">
            <a:off x="7312476" y="8633001"/>
            <a:ext cx="3535799" cy="580390"/>
          </a:xfrm>
          <a:prstGeom prst="rect">
            <a:avLst/>
          </a:prstGeom>
        </p:spPr>
        <p:txBody>
          <a:bodyPr anchor="t" rtlCol="false" tIns="0" lIns="0" bIns="0" rIns="0">
            <a:spAutoFit/>
          </a:bodyPr>
          <a:lstStyle/>
          <a:p>
            <a:pPr algn="ctr">
              <a:lnSpc>
                <a:spcPts val="4759"/>
              </a:lnSpc>
            </a:pPr>
            <a:r>
              <a:rPr lang="en-US" b="true" sz="3399" u="sng">
                <a:solidFill>
                  <a:srgbClr val="000000"/>
                </a:solidFill>
                <a:latin typeface="Canva Sans Bold"/>
                <a:ea typeface="Canva Sans Bold"/>
                <a:cs typeface="Canva Sans Bold"/>
                <a:sym typeface="Canva Sans Bold"/>
              </a:rPr>
              <a:t>Dr. Kritika Taneja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248010">
            <a:off x="-1327874" y="-3473992"/>
            <a:ext cx="20943749" cy="17234984"/>
          </a:xfrm>
          <a:custGeom>
            <a:avLst/>
            <a:gdLst/>
            <a:ahLst/>
            <a:cxnLst/>
            <a:rect r="r" b="b" t="t" l="l"/>
            <a:pathLst>
              <a:path h="17234984" w="20943749">
                <a:moveTo>
                  <a:pt x="20943748" y="9256378"/>
                </a:moveTo>
                <a:lnTo>
                  <a:pt x="4487966" y="17234984"/>
                </a:lnTo>
                <a:lnTo>
                  <a:pt x="0" y="7978606"/>
                </a:lnTo>
                <a:lnTo>
                  <a:pt x="16455782" y="0"/>
                </a:lnTo>
                <a:lnTo>
                  <a:pt x="20943748" y="9256378"/>
                </a:lnTo>
                <a:close/>
              </a:path>
            </a:pathLst>
          </a:custGeom>
          <a:blipFill>
            <a:blip r:embed="rId2"/>
            <a:stretch>
              <a:fillRect l="0" t="-4329" r="0" b="-4329"/>
            </a:stretch>
          </a:blipFill>
        </p:spPr>
      </p:sp>
      <p:sp>
        <p:nvSpPr>
          <p:cNvPr name="Freeform 3" id="3"/>
          <p:cNvSpPr/>
          <p:nvPr/>
        </p:nvSpPr>
        <p:spPr>
          <a:xfrm flipH="false" flipV="false" rot="3440733">
            <a:off x="1578012" y="6181578"/>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36491" y="2123689"/>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040417" y="1768328"/>
            <a:ext cx="7704118" cy="1001709"/>
          </a:xfrm>
          <a:prstGeom prst="rect">
            <a:avLst/>
          </a:prstGeom>
        </p:spPr>
        <p:txBody>
          <a:bodyPr anchor="t" rtlCol="false" tIns="0" lIns="0" bIns="0" rIns="0">
            <a:spAutoFit/>
          </a:bodyPr>
          <a:lstStyle/>
          <a:p>
            <a:pPr algn="ctr">
              <a:lnSpc>
                <a:spcPts val="6858"/>
              </a:lnSpc>
            </a:pPr>
            <a:r>
              <a:rPr lang="en-US" sz="8573">
                <a:solidFill>
                  <a:srgbClr val="000000"/>
                </a:solidFill>
                <a:latin typeface="Bobby Jones"/>
                <a:ea typeface="Bobby Jones"/>
                <a:cs typeface="Bobby Jones"/>
                <a:sym typeface="Bobby Jones"/>
              </a:rPr>
              <a:t>CONTENTS</a:t>
            </a:r>
          </a:p>
        </p:txBody>
      </p:sp>
      <p:sp>
        <p:nvSpPr>
          <p:cNvPr name="Freeform 6" id="6"/>
          <p:cNvSpPr/>
          <p:nvPr/>
        </p:nvSpPr>
        <p:spPr>
          <a:xfrm flipH="false" flipV="false" rot="-5400000">
            <a:off x="166110" y="636525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6014964">
            <a:off x="-178150" y="122485"/>
            <a:ext cx="3482673" cy="3172399"/>
          </a:xfrm>
          <a:custGeom>
            <a:avLst/>
            <a:gdLst/>
            <a:ahLst/>
            <a:cxnLst/>
            <a:rect r="r" b="b" t="t" l="l"/>
            <a:pathLst>
              <a:path h="3172399" w="3482673">
                <a:moveTo>
                  <a:pt x="0" y="0"/>
                </a:moveTo>
                <a:lnTo>
                  <a:pt x="3482673" y="0"/>
                </a:lnTo>
                <a:lnTo>
                  <a:pt x="3482673" y="3172399"/>
                </a:lnTo>
                <a:lnTo>
                  <a:pt x="0" y="31723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174465">
            <a:off x="14216549" y="8557441"/>
            <a:ext cx="4148729" cy="2368547"/>
          </a:xfrm>
          <a:custGeom>
            <a:avLst/>
            <a:gdLst/>
            <a:ahLst/>
            <a:cxnLst/>
            <a:rect r="r" b="b" t="t" l="l"/>
            <a:pathLst>
              <a:path h="2368547" w="4148729">
                <a:moveTo>
                  <a:pt x="0" y="0"/>
                </a:moveTo>
                <a:lnTo>
                  <a:pt x="4148729" y="0"/>
                </a:lnTo>
                <a:lnTo>
                  <a:pt x="4148729" y="2368546"/>
                </a:lnTo>
                <a:lnTo>
                  <a:pt x="0" y="23685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5400000">
            <a:off x="17056456" y="-1324458"/>
            <a:ext cx="3482673" cy="4706315"/>
          </a:xfrm>
          <a:custGeom>
            <a:avLst/>
            <a:gdLst/>
            <a:ahLst/>
            <a:cxnLst/>
            <a:rect r="r" b="b" t="t" l="l"/>
            <a:pathLst>
              <a:path h="4706315" w="3482673">
                <a:moveTo>
                  <a:pt x="0" y="0"/>
                </a:moveTo>
                <a:lnTo>
                  <a:pt x="3482674" y="0"/>
                </a:lnTo>
                <a:lnTo>
                  <a:pt x="3482674" y="4706316"/>
                </a:lnTo>
                <a:lnTo>
                  <a:pt x="0" y="47063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587144" y="3919653"/>
            <a:ext cx="7367676" cy="4915280"/>
          </a:xfrm>
          <a:prstGeom prst="rect">
            <a:avLst/>
          </a:prstGeom>
        </p:spPr>
        <p:txBody>
          <a:bodyPr anchor="t" rtlCol="false" tIns="0" lIns="0" bIns="0" rIns="0">
            <a:spAutoFit/>
          </a:bodyPr>
          <a:lstStyle/>
          <a:p>
            <a:pPr algn="l">
              <a:lnSpc>
                <a:spcPts val="4859"/>
              </a:lnSpc>
              <a:spcBef>
                <a:spcPct val="0"/>
              </a:spcBef>
            </a:pPr>
            <a:r>
              <a:rPr lang="en-US" sz="3470">
                <a:solidFill>
                  <a:srgbClr val="000000"/>
                </a:solidFill>
                <a:latin typeface="Bobby Jones"/>
                <a:ea typeface="Bobby Jones"/>
                <a:cs typeface="Bobby Jones"/>
                <a:sym typeface="Bobby Jones"/>
              </a:rPr>
              <a:t>INTRODUCTION</a:t>
            </a:r>
          </a:p>
          <a:p>
            <a:pPr algn="l">
              <a:lnSpc>
                <a:spcPts val="4859"/>
              </a:lnSpc>
              <a:spcBef>
                <a:spcPct val="0"/>
              </a:spcBef>
            </a:pPr>
            <a:r>
              <a:rPr lang="en-US" sz="3470">
                <a:solidFill>
                  <a:srgbClr val="000000"/>
                </a:solidFill>
                <a:latin typeface="Bobby Jones"/>
                <a:ea typeface="Bobby Jones"/>
                <a:cs typeface="Bobby Jones"/>
                <a:sym typeface="Bobby Jones"/>
              </a:rPr>
              <a:t>MOTIVATION</a:t>
            </a:r>
          </a:p>
          <a:p>
            <a:pPr algn="l">
              <a:lnSpc>
                <a:spcPts val="4859"/>
              </a:lnSpc>
              <a:spcBef>
                <a:spcPct val="0"/>
              </a:spcBef>
            </a:pPr>
            <a:r>
              <a:rPr lang="en-US" sz="3470">
                <a:solidFill>
                  <a:srgbClr val="000000"/>
                </a:solidFill>
                <a:latin typeface="Bobby Jones"/>
                <a:ea typeface="Bobby Jones"/>
                <a:cs typeface="Bobby Jones"/>
                <a:sym typeface="Bobby Jones"/>
              </a:rPr>
              <a:t>LITERATURE REVIEW</a:t>
            </a:r>
          </a:p>
          <a:p>
            <a:pPr algn="l">
              <a:lnSpc>
                <a:spcPts val="4859"/>
              </a:lnSpc>
              <a:spcBef>
                <a:spcPct val="0"/>
              </a:spcBef>
            </a:pPr>
            <a:r>
              <a:rPr lang="en-US" sz="3470">
                <a:solidFill>
                  <a:srgbClr val="000000"/>
                </a:solidFill>
                <a:latin typeface="Bobby Jones"/>
                <a:ea typeface="Bobby Jones"/>
                <a:cs typeface="Bobby Jones"/>
                <a:sym typeface="Bobby Jones"/>
              </a:rPr>
              <a:t>PROBLEM STATEMENT</a:t>
            </a:r>
          </a:p>
          <a:p>
            <a:pPr algn="l">
              <a:lnSpc>
                <a:spcPts val="4859"/>
              </a:lnSpc>
              <a:spcBef>
                <a:spcPct val="0"/>
              </a:spcBef>
            </a:pPr>
            <a:r>
              <a:rPr lang="en-US" sz="3470">
                <a:solidFill>
                  <a:srgbClr val="000000"/>
                </a:solidFill>
                <a:latin typeface="Bobby Jones"/>
                <a:ea typeface="Bobby Jones"/>
                <a:cs typeface="Bobby Jones"/>
                <a:sym typeface="Bobby Jones"/>
              </a:rPr>
              <a:t>OBJECTIVE</a:t>
            </a:r>
          </a:p>
          <a:p>
            <a:pPr algn="l">
              <a:lnSpc>
                <a:spcPts val="4859"/>
              </a:lnSpc>
              <a:spcBef>
                <a:spcPct val="0"/>
              </a:spcBef>
            </a:pPr>
            <a:r>
              <a:rPr lang="en-US" sz="3470">
                <a:solidFill>
                  <a:srgbClr val="000000"/>
                </a:solidFill>
                <a:latin typeface="Bobby Jones"/>
                <a:ea typeface="Bobby Jones"/>
                <a:cs typeface="Bobby Jones"/>
                <a:sym typeface="Bobby Jones"/>
              </a:rPr>
              <a:t>HARDWARE AND SOFTWARE REQUIREMENTS</a:t>
            </a:r>
          </a:p>
          <a:p>
            <a:pPr algn="l">
              <a:lnSpc>
                <a:spcPts val="4859"/>
              </a:lnSpc>
              <a:spcBef>
                <a:spcPct val="0"/>
              </a:spcBef>
            </a:pPr>
            <a:r>
              <a:rPr lang="en-US" sz="3470">
                <a:solidFill>
                  <a:srgbClr val="000000"/>
                </a:solidFill>
                <a:latin typeface="Bobby Jones"/>
                <a:ea typeface="Bobby Jones"/>
                <a:cs typeface="Bobby Jones"/>
                <a:sym typeface="Bobby Jones"/>
              </a:rPr>
              <a:t>DESIGN/IMPLEMENTATION</a:t>
            </a:r>
          </a:p>
          <a:p>
            <a:pPr algn="l">
              <a:lnSpc>
                <a:spcPts val="4859"/>
              </a:lnSpc>
              <a:spcBef>
                <a:spcPct val="0"/>
              </a:spcBef>
            </a:pPr>
            <a:r>
              <a:rPr lang="en-US" sz="3470">
                <a:solidFill>
                  <a:srgbClr val="000000"/>
                </a:solidFill>
                <a:latin typeface="Bobby Jones"/>
                <a:ea typeface="Bobby Jones"/>
                <a:cs typeface="Bobby Jones"/>
                <a:sym typeface="Bobby Jones"/>
              </a:rPr>
              <a:t>REFERENCES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70121" y="4199697"/>
            <a:ext cx="12747758" cy="4211424"/>
          </a:xfrm>
          <a:prstGeom prst="rect">
            <a:avLst/>
          </a:prstGeom>
        </p:spPr>
        <p:txBody>
          <a:bodyPr anchor="t" rtlCol="false" tIns="0" lIns="0" bIns="0" rIns="0">
            <a:spAutoFit/>
          </a:bodyPr>
          <a:lstStyle/>
          <a:p>
            <a:pPr algn="l" marL="0" indent="0" lvl="0">
              <a:lnSpc>
                <a:spcPts val="3054"/>
              </a:lnSpc>
              <a:spcBef>
                <a:spcPct val="0"/>
              </a:spcBef>
            </a:pPr>
            <a:r>
              <a:rPr lang="en-US" b="true" sz="3054">
                <a:solidFill>
                  <a:srgbClr val="000000"/>
                </a:solidFill>
                <a:latin typeface="Glacial Indifference Bold"/>
                <a:ea typeface="Glacial Indifference Bold"/>
                <a:cs typeface="Glacial Indifference Bold"/>
                <a:sym typeface="Glacial Indifference Bold"/>
              </a:rPr>
              <a:t>Backgr</a:t>
            </a:r>
            <a:r>
              <a:rPr lang="en-US" b="true" sz="3054" strike="noStrike" u="none">
                <a:solidFill>
                  <a:srgbClr val="000000"/>
                </a:solidFill>
                <a:latin typeface="Glacial Indifference Bold"/>
                <a:ea typeface="Glacial Indifference Bold"/>
                <a:cs typeface="Glacial Indifference Bold"/>
                <a:sym typeface="Glacial Indifference Bold"/>
              </a:rPr>
              <a:t>ound: </a:t>
            </a:r>
          </a:p>
          <a:p>
            <a:pPr algn="l" marL="0" indent="0" lvl="0">
              <a:lnSpc>
                <a:spcPts val="3054"/>
              </a:lnSpc>
              <a:spcBef>
                <a:spcPct val="0"/>
              </a:spcBef>
            </a:pPr>
            <a:r>
              <a:rPr lang="en-US" sz="3054" strike="noStrike" u="none">
                <a:solidFill>
                  <a:srgbClr val="000000"/>
                </a:solidFill>
                <a:latin typeface="Glacial Indifference"/>
                <a:ea typeface="Glacial Indifference"/>
                <a:cs typeface="Glacial Indifference"/>
                <a:sym typeface="Glacial Indifference"/>
              </a:rPr>
              <a:t>Bullying affects students’ safety and wellbeing, creating a need for secure and anonymous reporting.</a:t>
            </a:r>
          </a:p>
          <a:p>
            <a:pPr algn="ctr" marL="0" indent="0" lvl="0">
              <a:lnSpc>
                <a:spcPts val="3054"/>
              </a:lnSpc>
              <a:spcBef>
                <a:spcPct val="0"/>
              </a:spcBef>
            </a:pPr>
          </a:p>
          <a:p>
            <a:pPr algn="l" marL="0" indent="0" lvl="0">
              <a:lnSpc>
                <a:spcPts val="3054"/>
              </a:lnSpc>
              <a:spcBef>
                <a:spcPct val="0"/>
              </a:spcBef>
            </a:pPr>
            <a:r>
              <a:rPr lang="en-US" b="true" sz="3054" strike="noStrike" u="none">
                <a:solidFill>
                  <a:srgbClr val="000000"/>
                </a:solidFill>
                <a:latin typeface="Glacial Indifference Bold"/>
                <a:ea typeface="Glacial Indifference Bold"/>
                <a:cs typeface="Glacial Indifference Bold"/>
                <a:sym typeface="Glacial Indifference Bold"/>
              </a:rPr>
              <a:t>Significance: </a:t>
            </a:r>
          </a:p>
          <a:p>
            <a:pPr algn="l" marL="0" indent="0" lvl="0">
              <a:lnSpc>
                <a:spcPts val="3054"/>
              </a:lnSpc>
              <a:spcBef>
                <a:spcPct val="0"/>
              </a:spcBef>
            </a:pPr>
            <a:r>
              <a:rPr lang="en-US" sz="3054" strike="noStrike" u="none">
                <a:solidFill>
                  <a:srgbClr val="000000"/>
                </a:solidFill>
                <a:latin typeface="Glacial Indifference"/>
                <a:ea typeface="Glacial Indifference"/>
                <a:cs typeface="Glacial Indifference"/>
                <a:sym typeface="Glacial Indifference"/>
              </a:rPr>
              <a:t>The system enables safe reporting, evidence submission, case tracking, and effective management.</a:t>
            </a:r>
          </a:p>
          <a:p>
            <a:pPr algn="ctr" marL="0" indent="0" lvl="0">
              <a:lnSpc>
                <a:spcPts val="3054"/>
              </a:lnSpc>
              <a:spcBef>
                <a:spcPct val="0"/>
              </a:spcBef>
            </a:pPr>
          </a:p>
          <a:p>
            <a:pPr algn="l" marL="0" indent="0" lvl="0">
              <a:lnSpc>
                <a:spcPts val="3054"/>
              </a:lnSpc>
              <a:spcBef>
                <a:spcPct val="0"/>
              </a:spcBef>
            </a:pPr>
            <a:r>
              <a:rPr lang="en-US" b="true" sz="3054" strike="noStrike" u="none">
                <a:solidFill>
                  <a:srgbClr val="000000"/>
                </a:solidFill>
                <a:latin typeface="Glacial Indifference Bold"/>
                <a:ea typeface="Glacial Indifference Bold"/>
                <a:cs typeface="Glacial Indifference Bold"/>
                <a:sym typeface="Glacial Indifference Bold"/>
              </a:rPr>
              <a:t>Existing System: </a:t>
            </a:r>
          </a:p>
          <a:p>
            <a:pPr algn="l" marL="0" indent="0" lvl="0">
              <a:lnSpc>
                <a:spcPts val="3054"/>
              </a:lnSpc>
              <a:spcBef>
                <a:spcPct val="0"/>
              </a:spcBef>
            </a:pPr>
            <a:r>
              <a:rPr lang="en-US" sz="3054" strike="noStrike" u="none">
                <a:solidFill>
                  <a:srgbClr val="000000"/>
                </a:solidFill>
                <a:latin typeface="Glacial Indifference"/>
                <a:ea typeface="Glacial Indifference"/>
                <a:cs typeface="Glacial Indifference"/>
                <a:sym typeface="Glacial Indifference"/>
              </a:rPr>
              <a:t>Traditional reporting methods often lack anonymity, easy tracking, and centralized case management.</a:t>
            </a:r>
          </a:p>
        </p:txBody>
      </p:sp>
      <p:sp>
        <p:nvSpPr>
          <p:cNvPr name="TextBox 3" id="3"/>
          <p:cNvSpPr txBox="true"/>
          <p:nvPr/>
        </p:nvSpPr>
        <p:spPr>
          <a:xfrm rot="0">
            <a:off x="4655204" y="1844198"/>
            <a:ext cx="7821671" cy="1029195"/>
          </a:xfrm>
          <a:prstGeom prst="rect">
            <a:avLst/>
          </a:prstGeom>
        </p:spPr>
        <p:txBody>
          <a:bodyPr anchor="t" rtlCol="false" tIns="0" lIns="0" bIns="0" rIns="0">
            <a:spAutoFit/>
          </a:bodyPr>
          <a:lstStyle/>
          <a:p>
            <a:pPr algn="ctr">
              <a:lnSpc>
                <a:spcPts val="7057"/>
              </a:lnSpc>
            </a:pPr>
            <a:r>
              <a:rPr lang="en-US" sz="8822">
                <a:solidFill>
                  <a:srgbClr val="000000"/>
                </a:solidFill>
                <a:latin typeface="Bobby Jones"/>
                <a:ea typeface="Bobby Jones"/>
                <a:cs typeface="Bobby Jones"/>
                <a:sym typeface="Bobby Jones"/>
              </a:rPr>
              <a:t>INTRODUCTION</a:t>
            </a:r>
          </a:p>
        </p:txBody>
      </p:sp>
      <p:sp>
        <p:nvSpPr>
          <p:cNvPr name="Freeform 4" id="4"/>
          <p:cNvSpPr/>
          <p:nvPr/>
        </p:nvSpPr>
        <p:spPr>
          <a:xfrm flipH="false" flipV="false" rot="3293269">
            <a:off x="661831" y="2312339"/>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293269">
            <a:off x="15545808" y="8670909"/>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463619">
            <a:off x="12540109" y="761547"/>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9248010">
            <a:off x="13121911" y="6815255"/>
            <a:ext cx="6965346" cy="6228181"/>
          </a:xfrm>
          <a:custGeom>
            <a:avLst/>
            <a:gdLst/>
            <a:ahLst/>
            <a:cxnLst/>
            <a:rect r="r" b="b" t="t" l="l"/>
            <a:pathLst>
              <a:path h="6228181" w="6965346">
                <a:moveTo>
                  <a:pt x="0" y="0"/>
                </a:moveTo>
                <a:lnTo>
                  <a:pt x="6965346" y="0"/>
                </a:lnTo>
                <a:lnTo>
                  <a:pt x="6965346" y="6228180"/>
                </a:lnTo>
                <a:lnTo>
                  <a:pt x="0" y="6228180"/>
                </a:lnTo>
                <a:lnTo>
                  <a:pt x="0" y="0"/>
                </a:lnTo>
                <a:close/>
              </a:path>
            </a:pathLst>
          </a:custGeom>
          <a:blipFill>
            <a:blip r:embed="rId4"/>
            <a:stretch>
              <a:fillRect l="0" t="0" r="0" b="0"/>
            </a:stretch>
          </a:blipFill>
        </p:spPr>
      </p:sp>
      <p:sp>
        <p:nvSpPr>
          <p:cNvPr name="Freeform 8" id="8"/>
          <p:cNvSpPr/>
          <p:nvPr/>
        </p:nvSpPr>
        <p:spPr>
          <a:xfrm flipH="false" flipV="false" rot="-2855680">
            <a:off x="-2845528" y="-4476500"/>
            <a:ext cx="6965346" cy="7967984"/>
          </a:xfrm>
          <a:custGeom>
            <a:avLst/>
            <a:gdLst/>
            <a:ahLst/>
            <a:cxnLst/>
            <a:rect r="r" b="b" t="t" l="l"/>
            <a:pathLst>
              <a:path h="7967984" w="6965346">
                <a:moveTo>
                  <a:pt x="0" y="0"/>
                </a:moveTo>
                <a:lnTo>
                  <a:pt x="6965347" y="0"/>
                </a:lnTo>
                <a:lnTo>
                  <a:pt x="6965347" y="7967985"/>
                </a:lnTo>
                <a:lnTo>
                  <a:pt x="0" y="7967985"/>
                </a:lnTo>
                <a:lnTo>
                  <a:pt x="0" y="0"/>
                </a:lnTo>
                <a:close/>
              </a:path>
            </a:pathLst>
          </a:custGeom>
          <a:blipFill>
            <a:blip r:embed="rId5"/>
            <a:stretch>
              <a:fillRect l="0" t="0" r="0" b="0"/>
            </a:stretch>
          </a:blipFill>
        </p:spPr>
      </p:sp>
      <p:sp>
        <p:nvSpPr>
          <p:cNvPr name="Freeform 9" id="9"/>
          <p:cNvSpPr/>
          <p:nvPr/>
        </p:nvSpPr>
        <p:spPr>
          <a:xfrm flipH="false" flipV="false" rot="2916453">
            <a:off x="14805327" y="-3299783"/>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5"/>
            <a:stretch>
              <a:fillRect l="0" t="0" r="0" b="0"/>
            </a:stretch>
          </a:blipFill>
        </p:spPr>
      </p:sp>
      <p:sp>
        <p:nvSpPr>
          <p:cNvPr name="Freeform 10" id="10"/>
          <p:cNvSpPr/>
          <p:nvPr/>
        </p:nvSpPr>
        <p:spPr>
          <a:xfrm flipH="false" flipV="false" rot="-5400000">
            <a:off x="166110" y="636525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14998411" y="-1362219"/>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248010">
            <a:off x="11253535" y="6737831"/>
            <a:ext cx="6965346" cy="6228181"/>
          </a:xfrm>
          <a:custGeom>
            <a:avLst/>
            <a:gdLst/>
            <a:ahLst/>
            <a:cxnLst/>
            <a:rect r="r" b="b" t="t" l="l"/>
            <a:pathLst>
              <a:path h="6228181" w="6965346">
                <a:moveTo>
                  <a:pt x="0" y="0"/>
                </a:moveTo>
                <a:lnTo>
                  <a:pt x="6965346" y="0"/>
                </a:lnTo>
                <a:lnTo>
                  <a:pt x="6965346" y="6228181"/>
                </a:lnTo>
                <a:lnTo>
                  <a:pt x="0" y="6228181"/>
                </a:lnTo>
                <a:lnTo>
                  <a:pt x="0" y="0"/>
                </a:lnTo>
                <a:close/>
              </a:path>
            </a:pathLst>
          </a:custGeom>
          <a:blipFill>
            <a:blip r:embed="rId2"/>
            <a:stretch>
              <a:fillRect l="0" t="0" r="0" b="0"/>
            </a:stretch>
          </a:blipFill>
        </p:spPr>
      </p:sp>
      <p:sp>
        <p:nvSpPr>
          <p:cNvPr name="Freeform 3" id="3"/>
          <p:cNvSpPr/>
          <p:nvPr/>
        </p:nvSpPr>
        <p:spPr>
          <a:xfrm flipH="false" flipV="false" rot="-1390491">
            <a:off x="14974241" y="2305683"/>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3"/>
            <a:stretch>
              <a:fillRect l="0" t="0" r="0" b="0"/>
            </a:stretch>
          </a:blipFill>
        </p:spPr>
      </p:sp>
      <p:sp>
        <p:nvSpPr>
          <p:cNvPr name="Freeform 4" id="4"/>
          <p:cNvSpPr/>
          <p:nvPr/>
        </p:nvSpPr>
        <p:spPr>
          <a:xfrm flipH="false" flipV="false" rot="2125556">
            <a:off x="16694961" y="4748228"/>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257074" y="-2711172"/>
            <a:ext cx="6965346" cy="6228181"/>
          </a:xfrm>
          <a:custGeom>
            <a:avLst/>
            <a:gdLst/>
            <a:ahLst/>
            <a:cxnLst/>
            <a:rect r="r" b="b" t="t" l="l"/>
            <a:pathLst>
              <a:path h="6228181" w="6965346">
                <a:moveTo>
                  <a:pt x="0" y="0"/>
                </a:moveTo>
                <a:lnTo>
                  <a:pt x="6965347" y="0"/>
                </a:lnTo>
                <a:lnTo>
                  <a:pt x="6965347" y="6228181"/>
                </a:lnTo>
                <a:lnTo>
                  <a:pt x="0" y="6228181"/>
                </a:lnTo>
                <a:lnTo>
                  <a:pt x="0" y="0"/>
                </a:lnTo>
                <a:close/>
              </a:path>
            </a:pathLst>
          </a:custGeom>
          <a:blipFill>
            <a:blip r:embed="rId2"/>
            <a:stretch>
              <a:fillRect l="0" t="0" r="0" b="0"/>
            </a:stretch>
          </a:blipFill>
        </p:spPr>
      </p:sp>
      <p:sp>
        <p:nvSpPr>
          <p:cNvPr name="Freeform 6" id="6"/>
          <p:cNvSpPr/>
          <p:nvPr/>
        </p:nvSpPr>
        <p:spPr>
          <a:xfrm flipH="false" flipV="false" rot="-5400000">
            <a:off x="15342183" y="7189198"/>
            <a:ext cx="3482673" cy="3058420"/>
          </a:xfrm>
          <a:custGeom>
            <a:avLst/>
            <a:gdLst/>
            <a:ahLst/>
            <a:cxnLst/>
            <a:rect r="r" b="b" t="t" l="l"/>
            <a:pathLst>
              <a:path h="3058420" w="3482673">
                <a:moveTo>
                  <a:pt x="0" y="0"/>
                </a:moveTo>
                <a:lnTo>
                  <a:pt x="3482673" y="0"/>
                </a:lnTo>
                <a:lnTo>
                  <a:pt x="3482673" y="3058420"/>
                </a:lnTo>
                <a:lnTo>
                  <a:pt x="0" y="30584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551989">
            <a:off x="-344655" y="-2869575"/>
            <a:ext cx="6965346" cy="6228181"/>
          </a:xfrm>
          <a:custGeom>
            <a:avLst/>
            <a:gdLst/>
            <a:ahLst/>
            <a:cxnLst/>
            <a:rect r="r" b="b" t="t" l="l"/>
            <a:pathLst>
              <a:path h="6228181" w="6965346">
                <a:moveTo>
                  <a:pt x="0" y="0"/>
                </a:moveTo>
                <a:lnTo>
                  <a:pt x="6965347" y="0"/>
                </a:lnTo>
                <a:lnTo>
                  <a:pt x="6965347" y="6228180"/>
                </a:lnTo>
                <a:lnTo>
                  <a:pt x="0" y="6228180"/>
                </a:lnTo>
                <a:lnTo>
                  <a:pt x="0" y="0"/>
                </a:lnTo>
                <a:close/>
              </a:path>
            </a:pathLst>
          </a:custGeom>
          <a:blipFill>
            <a:blip r:embed="rId2"/>
            <a:stretch>
              <a:fillRect l="0" t="0" r="0" b="0"/>
            </a:stretch>
          </a:blipFill>
        </p:spPr>
      </p:sp>
      <p:sp>
        <p:nvSpPr>
          <p:cNvPr name="Freeform 8" id="8"/>
          <p:cNvSpPr/>
          <p:nvPr/>
        </p:nvSpPr>
        <p:spPr>
          <a:xfrm flipH="false" flipV="false" rot="9409508">
            <a:off x="-3878402" y="-210068"/>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3"/>
            <a:stretch>
              <a:fillRect l="0" t="0" r="0" b="0"/>
            </a:stretch>
          </a:blipFill>
        </p:spPr>
      </p:sp>
      <p:sp>
        <p:nvSpPr>
          <p:cNvPr name="Freeform 9" id="9"/>
          <p:cNvSpPr/>
          <p:nvPr/>
        </p:nvSpPr>
        <p:spPr>
          <a:xfrm flipH="false" flipV="false" rot="-8674443">
            <a:off x="453588" y="4781065"/>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2161236" y="6546590"/>
            <a:ext cx="6965346" cy="6228181"/>
          </a:xfrm>
          <a:custGeom>
            <a:avLst/>
            <a:gdLst/>
            <a:ahLst/>
            <a:cxnLst/>
            <a:rect r="r" b="b" t="t" l="l"/>
            <a:pathLst>
              <a:path h="6228181" w="6965346">
                <a:moveTo>
                  <a:pt x="0" y="0"/>
                </a:moveTo>
                <a:lnTo>
                  <a:pt x="6965347" y="0"/>
                </a:lnTo>
                <a:lnTo>
                  <a:pt x="6965347" y="6228181"/>
                </a:lnTo>
                <a:lnTo>
                  <a:pt x="0" y="6228181"/>
                </a:lnTo>
                <a:lnTo>
                  <a:pt x="0" y="0"/>
                </a:lnTo>
                <a:close/>
              </a:path>
            </a:pathLst>
          </a:custGeom>
          <a:blipFill>
            <a:blip r:embed="rId2"/>
            <a:stretch>
              <a:fillRect l="0" t="0" r="0" b="0"/>
            </a:stretch>
          </a:blipFill>
        </p:spPr>
      </p:sp>
      <p:sp>
        <p:nvSpPr>
          <p:cNvPr name="Freeform 11" id="11"/>
          <p:cNvSpPr/>
          <p:nvPr/>
        </p:nvSpPr>
        <p:spPr>
          <a:xfrm flipH="false" flipV="false" rot="5400000">
            <a:off x="-763671" y="-184019"/>
            <a:ext cx="3482673" cy="3058420"/>
          </a:xfrm>
          <a:custGeom>
            <a:avLst/>
            <a:gdLst/>
            <a:ahLst/>
            <a:cxnLst/>
            <a:rect r="r" b="b" t="t" l="l"/>
            <a:pathLst>
              <a:path h="3058420" w="3482673">
                <a:moveTo>
                  <a:pt x="0" y="0"/>
                </a:moveTo>
                <a:lnTo>
                  <a:pt x="3482673" y="0"/>
                </a:lnTo>
                <a:lnTo>
                  <a:pt x="3482673" y="3058420"/>
                </a:lnTo>
                <a:lnTo>
                  <a:pt x="0" y="30584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3717744">
            <a:off x="16304980" y="-91990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1752547">
            <a:off x="2890342" y="1904349"/>
            <a:ext cx="1626183" cy="1995316"/>
          </a:xfrm>
          <a:custGeom>
            <a:avLst/>
            <a:gdLst/>
            <a:ahLst/>
            <a:cxnLst/>
            <a:rect r="r" b="b" t="t" l="l"/>
            <a:pathLst>
              <a:path h="1995316" w="1626183">
                <a:moveTo>
                  <a:pt x="0" y="0"/>
                </a:moveTo>
                <a:lnTo>
                  <a:pt x="1626183" y="0"/>
                </a:lnTo>
                <a:lnTo>
                  <a:pt x="1626183" y="1995316"/>
                </a:lnTo>
                <a:lnTo>
                  <a:pt x="0" y="19953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1639394">
            <a:off x="13157409" y="1819106"/>
            <a:ext cx="1626183" cy="1995316"/>
          </a:xfrm>
          <a:custGeom>
            <a:avLst/>
            <a:gdLst/>
            <a:ahLst/>
            <a:cxnLst/>
            <a:rect r="r" b="b" t="t" l="l"/>
            <a:pathLst>
              <a:path h="1995316" w="1626183">
                <a:moveTo>
                  <a:pt x="0" y="0"/>
                </a:moveTo>
                <a:lnTo>
                  <a:pt x="1626182" y="0"/>
                </a:lnTo>
                <a:lnTo>
                  <a:pt x="1626182" y="1995316"/>
                </a:lnTo>
                <a:lnTo>
                  <a:pt x="0" y="19953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4853943" y="1357171"/>
            <a:ext cx="8503914" cy="1652134"/>
          </a:xfrm>
          <a:prstGeom prst="rect">
            <a:avLst/>
          </a:prstGeom>
        </p:spPr>
        <p:txBody>
          <a:bodyPr anchor="t" rtlCol="false" tIns="0" lIns="0" bIns="0" rIns="0">
            <a:spAutoFit/>
          </a:bodyPr>
          <a:lstStyle/>
          <a:p>
            <a:pPr algn="ctr">
              <a:lnSpc>
                <a:spcPts val="13427"/>
              </a:lnSpc>
              <a:spcBef>
                <a:spcPct val="0"/>
              </a:spcBef>
            </a:pPr>
            <a:r>
              <a:rPr lang="en-US" sz="9591">
                <a:solidFill>
                  <a:srgbClr val="000000"/>
                </a:solidFill>
                <a:latin typeface="Bobby Jones"/>
                <a:ea typeface="Bobby Jones"/>
                <a:cs typeface="Bobby Jones"/>
                <a:sym typeface="Bobby Jones"/>
              </a:rPr>
              <a:t>MOTIVATION</a:t>
            </a:r>
          </a:p>
        </p:txBody>
      </p:sp>
      <p:sp>
        <p:nvSpPr>
          <p:cNvPr name="TextBox 16" id="16"/>
          <p:cNvSpPr txBox="true"/>
          <p:nvPr/>
        </p:nvSpPr>
        <p:spPr>
          <a:xfrm rot="0">
            <a:off x="4270432" y="4618275"/>
            <a:ext cx="9355225" cy="1980320"/>
          </a:xfrm>
          <a:prstGeom prst="rect">
            <a:avLst/>
          </a:prstGeom>
        </p:spPr>
        <p:txBody>
          <a:bodyPr anchor="t" rtlCol="false" tIns="0" lIns="0" bIns="0" rIns="0">
            <a:spAutoFit/>
          </a:bodyPr>
          <a:lstStyle/>
          <a:p>
            <a:pPr algn="ctr">
              <a:lnSpc>
                <a:spcPts val="5298"/>
              </a:lnSpc>
              <a:spcBef>
                <a:spcPct val="0"/>
              </a:spcBef>
            </a:pPr>
            <a:r>
              <a:rPr lang="en-US" sz="3784">
                <a:solidFill>
                  <a:srgbClr val="000000"/>
                </a:solidFill>
                <a:latin typeface="Glacial Indifference"/>
                <a:ea typeface="Glacial Indifference"/>
                <a:cs typeface="Glacial Indifference"/>
                <a:sym typeface="Glacial Indifference"/>
              </a:rPr>
              <a:t>To provide a safe, anonymous, and easy way for victims to report bullying and seek support.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409937" y="3190116"/>
            <a:ext cx="13468125" cy="6039609"/>
          </a:xfrm>
          <a:prstGeom prst="rect">
            <a:avLst/>
          </a:prstGeom>
        </p:spPr>
        <p:txBody>
          <a:bodyPr anchor="t" rtlCol="false" tIns="0" lIns="0" bIns="0" rIns="0">
            <a:spAutoFit/>
          </a:bodyPr>
          <a:lstStyle/>
          <a:p>
            <a:pPr algn="ctr" marL="0" indent="0" lvl="0">
              <a:lnSpc>
                <a:spcPts val="3996"/>
              </a:lnSpc>
            </a:pPr>
            <a:r>
              <a:rPr lang="en-US" sz="2960">
                <a:solidFill>
                  <a:srgbClr val="000000"/>
                </a:solidFill>
                <a:latin typeface="Glacial Indifference"/>
                <a:ea typeface="Glacial Indifference"/>
                <a:cs typeface="Glacial Indifference"/>
                <a:sym typeface="Glacial Indifference"/>
              </a:rPr>
              <a:t>Existing bullying rep</a:t>
            </a:r>
            <a:r>
              <a:rPr lang="en-US" sz="2960" strike="noStrike" u="none">
                <a:solidFill>
                  <a:srgbClr val="000000"/>
                </a:solidFill>
                <a:latin typeface="Glacial Indifference"/>
                <a:ea typeface="Glacial Indifference"/>
                <a:cs typeface="Glacial Indifference"/>
                <a:sym typeface="Glacial Indifference"/>
              </a:rPr>
              <a:t>orting systems mainly use school authorities, helplines, emails, or online complaint forms. These methods provide basic reporting facilities but may not always offer complete anonymity, evidence management, or case tracking. Research on cyberbullying detection has explored NLP and machine learning techniques such as text preprocessing, TF-IDF, Naive Bayes, and SVM to identify harmful or bullying-related content. Existing studies show that automated text classification can help detect cyberbullying more efficiently. However, many systems focus mainly on detection and do not combine anonymous reporting, evidence submission, report tracking, communication, and administrative case management in one platform. Our proposed system aims to address these gaps by providing a secure and user-friendly platform for anonymous reporting and systematic case management.</a:t>
            </a:r>
          </a:p>
        </p:txBody>
      </p:sp>
      <p:sp>
        <p:nvSpPr>
          <p:cNvPr name="TextBox 3" id="3"/>
          <p:cNvSpPr txBox="true"/>
          <p:nvPr/>
        </p:nvSpPr>
        <p:spPr>
          <a:xfrm rot="0">
            <a:off x="4260604" y="1286213"/>
            <a:ext cx="9061424" cy="959651"/>
          </a:xfrm>
          <a:prstGeom prst="rect">
            <a:avLst/>
          </a:prstGeom>
        </p:spPr>
        <p:txBody>
          <a:bodyPr anchor="t" rtlCol="false" tIns="0" lIns="0" bIns="0" rIns="0">
            <a:spAutoFit/>
          </a:bodyPr>
          <a:lstStyle/>
          <a:p>
            <a:pPr algn="ctr">
              <a:lnSpc>
                <a:spcPts val="6594"/>
              </a:lnSpc>
            </a:pPr>
            <a:r>
              <a:rPr lang="en-US" sz="8242">
                <a:solidFill>
                  <a:srgbClr val="000000"/>
                </a:solidFill>
                <a:latin typeface="Bobby Jones"/>
                <a:ea typeface="Bobby Jones"/>
                <a:cs typeface="Bobby Jones"/>
                <a:sym typeface="Bobby Jones"/>
              </a:rPr>
              <a:t>LITERATURE REVIEW</a:t>
            </a:r>
          </a:p>
        </p:txBody>
      </p:sp>
      <p:sp>
        <p:nvSpPr>
          <p:cNvPr name="Freeform 4" id="4"/>
          <p:cNvSpPr/>
          <p:nvPr/>
        </p:nvSpPr>
        <p:spPr>
          <a:xfrm flipH="false" flipV="false" rot="3293269">
            <a:off x="91379" y="5137076"/>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293269">
            <a:off x="6343750" y="10019847"/>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463619">
            <a:off x="13758577" y="541823"/>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9248010">
            <a:off x="13257074" y="6850286"/>
            <a:ext cx="6965346" cy="6228181"/>
          </a:xfrm>
          <a:custGeom>
            <a:avLst/>
            <a:gdLst/>
            <a:ahLst/>
            <a:cxnLst/>
            <a:rect r="r" b="b" t="t" l="l"/>
            <a:pathLst>
              <a:path h="6228181" w="6965346">
                <a:moveTo>
                  <a:pt x="0" y="0"/>
                </a:moveTo>
                <a:lnTo>
                  <a:pt x="6965347" y="0"/>
                </a:lnTo>
                <a:lnTo>
                  <a:pt x="6965347" y="6228181"/>
                </a:lnTo>
                <a:lnTo>
                  <a:pt x="0" y="6228181"/>
                </a:lnTo>
                <a:lnTo>
                  <a:pt x="0" y="0"/>
                </a:lnTo>
                <a:close/>
              </a:path>
            </a:pathLst>
          </a:custGeom>
          <a:blipFill>
            <a:blip r:embed="rId4"/>
            <a:stretch>
              <a:fillRect l="0" t="0" r="0" b="0"/>
            </a:stretch>
          </a:blipFill>
        </p:spPr>
      </p:sp>
      <p:sp>
        <p:nvSpPr>
          <p:cNvPr name="Freeform 8" id="8"/>
          <p:cNvSpPr/>
          <p:nvPr/>
        </p:nvSpPr>
        <p:spPr>
          <a:xfrm flipH="false" flipV="false" rot="-2855680">
            <a:off x="-2453973" y="-3838032"/>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5"/>
            <a:stretch>
              <a:fillRect l="0" t="0" r="0" b="0"/>
            </a:stretch>
          </a:blipFill>
        </p:spPr>
      </p:sp>
      <p:sp>
        <p:nvSpPr>
          <p:cNvPr name="Freeform 9" id="9"/>
          <p:cNvSpPr/>
          <p:nvPr/>
        </p:nvSpPr>
        <p:spPr>
          <a:xfrm flipH="false" flipV="false" rot="2916453">
            <a:off x="14805327" y="-3299783"/>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5"/>
            <a:stretch>
              <a:fillRect l="0" t="0" r="0" b="0"/>
            </a:stretch>
          </a:blipFill>
        </p:spPr>
      </p:sp>
      <p:sp>
        <p:nvSpPr>
          <p:cNvPr name="Freeform 10" id="10"/>
          <p:cNvSpPr/>
          <p:nvPr/>
        </p:nvSpPr>
        <p:spPr>
          <a:xfrm flipH="false" flipV="false" rot="-5400000">
            <a:off x="166110" y="636525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14998411" y="-1362219"/>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70645" y="1323975"/>
            <a:ext cx="10445259" cy="1005555"/>
          </a:xfrm>
          <a:prstGeom prst="rect">
            <a:avLst/>
          </a:prstGeom>
        </p:spPr>
        <p:txBody>
          <a:bodyPr anchor="t" rtlCol="false" tIns="0" lIns="0" bIns="0" rIns="0">
            <a:spAutoFit/>
          </a:bodyPr>
          <a:lstStyle/>
          <a:p>
            <a:pPr algn="ctr" marL="0" indent="0" lvl="0">
              <a:lnSpc>
                <a:spcPts val="6835"/>
              </a:lnSpc>
              <a:spcBef>
                <a:spcPct val="0"/>
              </a:spcBef>
            </a:pPr>
            <a:r>
              <a:rPr lang="en-US" sz="8544">
                <a:solidFill>
                  <a:srgbClr val="000000"/>
                </a:solidFill>
                <a:latin typeface="Bobby Jones"/>
                <a:ea typeface="Bobby Jones"/>
                <a:cs typeface="Bobby Jones"/>
                <a:sym typeface="Bobby Jones"/>
              </a:rPr>
              <a:t>PROBLEM STATEMENT</a:t>
            </a:r>
          </a:p>
        </p:txBody>
      </p:sp>
      <p:sp>
        <p:nvSpPr>
          <p:cNvPr name="TextBox 3" id="3"/>
          <p:cNvSpPr txBox="true"/>
          <p:nvPr/>
        </p:nvSpPr>
        <p:spPr>
          <a:xfrm rot="0">
            <a:off x="1678181" y="3010634"/>
            <a:ext cx="14260095" cy="6261937"/>
          </a:xfrm>
          <a:prstGeom prst="rect">
            <a:avLst/>
          </a:prstGeom>
        </p:spPr>
        <p:txBody>
          <a:bodyPr anchor="t" rtlCol="false" tIns="0" lIns="0" bIns="0" rIns="0">
            <a:spAutoFit/>
          </a:bodyPr>
          <a:lstStyle/>
          <a:p>
            <a:pPr algn="just">
              <a:lnSpc>
                <a:spcPts val="4151"/>
              </a:lnSpc>
            </a:pPr>
            <a:r>
              <a:rPr lang="en-US" b="true" sz="2611">
                <a:solidFill>
                  <a:srgbClr val="000000"/>
                </a:solidFill>
                <a:latin typeface="Glacial Indifference Bold"/>
                <a:ea typeface="Glacial Indifference Bold"/>
                <a:cs typeface="Glacial Indifference Bold"/>
                <a:sym typeface="Glacial Indifference Bold"/>
              </a:rPr>
              <a:t>Problem Statement:</a:t>
            </a:r>
          </a:p>
          <a:p>
            <a:pPr algn="just">
              <a:lnSpc>
                <a:spcPts val="4151"/>
              </a:lnSpc>
            </a:pPr>
            <a:r>
              <a:rPr lang="en-US" sz="2611">
                <a:solidFill>
                  <a:srgbClr val="000000"/>
                </a:solidFill>
                <a:latin typeface="Glacial Indifference"/>
                <a:ea typeface="Glacial Indifference"/>
                <a:cs typeface="Glacial Indifference"/>
                <a:sym typeface="Glacial Indifference"/>
              </a:rPr>
              <a:t>To develop a secure and anonymous platform for reporting bullying, submitting evidence, tracking cases, and managing complaints efficiently.</a:t>
            </a:r>
          </a:p>
          <a:p>
            <a:pPr algn="just">
              <a:lnSpc>
                <a:spcPts val="4151"/>
              </a:lnSpc>
            </a:pPr>
            <a:r>
              <a:rPr lang="en-US" b="true" sz="2611">
                <a:solidFill>
                  <a:srgbClr val="000000"/>
                </a:solidFill>
                <a:latin typeface="Glacial Indifference Bold"/>
                <a:ea typeface="Glacial Indifference Bold"/>
                <a:cs typeface="Glacial Indifference Bold"/>
                <a:sym typeface="Glacial Indifference Bold"/>
              </a:rPr>
              <a:t>Objectives:</a:t>
            </a:r>
          </a:p>
          <a:p>
            <a:pPr algn="just">
              <a:lnSpc>
                <a:spcPts val="4151"/>
              </a:lnSpc>
            </a:pPr>
            <a:r>
              <a:rPr lang="en-US" sz="2611">
                <a:solidFill>
                  <a:srgbClr val="000000"/>
                </a:solidFill>
                <a:latin typeface="Glacial Indifference"/>
                <a:ea typeface="Glacial Indifference"/>
                <a:cs typeface="Glacial Indifference"/>
                <a:sym typeface="Glacial Indifference"/>
              </a:rPr>
              <a:t>Enable anonymous bullying reporting.</a:t>
            </a:r>
          </a:p>
          <a:p>
            <a:pPr algn="just">
              <a:lnSpc>
                <a:spcPts val="4151"/>
              </a:lnSpc>
            </a:pPr>
            <a:r>
              <a:rPr lang="en-US" sz="2611">
                <a:solidFill>
                  <a:srgbClr val="000000"/>
                </a:solidFill>
                <a:latin typeface="Glacial Indifference"/>
                <a:ea typeface="Glacial Indifference"/>
                <a:cs typeface="Glacial Indifference"/>
                <a:sym typeface="Glacial Indifference"/>
              </a:rPr>
              <a:t>Allow users to submit incident details and evidence.</a:t>
            </a:r>
          </a:p>
          <a:p>
            <a:pPr algn="just">
              <a:lnSpc>
                <a:spcPts val="4151"/>
              </a:lnSpc>
            </a:pPr>
            <a:r>
              <a:rPr lang="en-US" sz="2611">
                <a:solidFill>
                  <a:srgbClr val="000000"/>
                </a:solidFill>
                <a:latin typeface="Glacial Indifference"/>
                <a:ea typeface="Glacial Indifference"/>
                <a:cs typeface="Glacial Indifference"/>
                <a:sym typeface="Glacial Indifference"/>
              </a:rPr>
              <a:t>Provide Report ID-based case tracking.</a:t>
            </a:r>
          </a:p>
          <a:p>
            <a:pPr algn="just">
              <a:lnSpc>
                <a:spcPts val="4151"/>
              </a:lnSpc>
            </a:pPr>
            <a:r>
              <a:rPr lang="en-US" sz="2611">
                <a:solidFill>
                  <a:srgbClr val="000000"/>
                </a:solidFill>
                <a:latin typeface="Glacial Indifference"/>
                <a:ea typeface="Glacial Indifference"/>
                <a:cs typeface="Glacial Indifference"/>
                <a:sym typeface="Glacial Indifference"/>
              </a:rPr>
              <a:t>Help admins manage and monitor reported cases.</a:t>
            </a:r>
          </a:p>
          <a:p>
            <a:pPr algn="just">
              <a:lnSpc>
                <a:spcPts val="4151"/>
              </a:lnSpc>
            </a:pPr>
            <a:r>
              <a:rPr lang="en-US" sz="2611">
                <a:solidFill>
                  <a:srgbClr val="000000"/>
                </a:solidFill>
                <a:latin typeface="Glacial Indifference"/>
                <a:ea typeface="Glacial Indifference"/>
                <a:cs typeface="Glacial Indifference"/>
                <a:sym typeface="Glacial Indifference"/>
              </a:rPr>
              <a:t>Detect cyberbullying using NLP and machine learning.</a:t>
            </a:r>
          </a:p>
          <a:p>
            <a:pPr algn="just">
              <a:lnSpc>
                <a:spcPts val="4151"/>
              </a:lnSpc>
            </a:pPr>
            <a:r>
              <a:rPr lang="en-US" sz="2611">
                <a:solidFill>
                  <a:srgbClr val="000000"/>
                </a:solidFill>
                <a:latin typeface="Glacial Indifference"/>
                <a:ea typeface="Glacial Indifference"/>
                <a:cs typeface="Glacial Indifference"/>
                <a:sym typeface="Glacial Indifference"/>
              </a:rPr>
              <a:t>Scope:</a:t>
            </a:r>
          </a:p>
          <a:p>
            <a:pPr algn="just">
              <a:lnSpc>
                <a:spcPts val="4151"/>
              </a:lnSpc>
            </a:pPr>
            <a:r>
              <a:rPr lang="en-US" sz="2611">
                <a:solidFill>
                  <a:srgbClr val="000000"/>
                </a:solidFill>
                <a:latin typeface="Glacial Indifference"/>
                <a:ea typeface="Glacial Indifference"/>
                <a:cs typeface="Glacial Indifference"/>
                <a:sym typeface="Glacial Indifference"/>
              </a:rPr>
              <a:t>The system covers anonymous reporting, evidence submission, case tracking, admin management, messaging, analytics, and cyberbullying detection.</a:t>
            </a:r>
          </a:p>
        </p:txBody>
      </p:sp>
      <p:sp>
        <p:nvSpPr>
          <p:cNvPr name="Freeform 4" id="4"/>
          <p:cNvSpPr/>
          <p:nvPr/>
        </p:nvSpPr>
        <p:spPr>
          <a:xfrm flipH="false" flipV="false" rot="3293269">
            <a:off x="572382" y="1288488"/>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293269">
            <a:off x="16321979" y="9759035"/>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463619">
            <a:off x="17195502" y="4501027"/>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023662">
            <a:off x="-5528373" y="882454"/>
            <a:ext cx="6191655" cy="8329581"/>
          </a:xfrm>
          <a:custGeom>
            <a:avLst/>
            <a:gdLst/>
            <a:ahLst/>
            <a:cxnLst/>
            <a:rect r="r" b="b" t="t" l="l"/>
            <a:pathLst>
              <a:path h="8329581" w="6191655">
                <a:moveTo>
                  <a:pt x="0" y="0"/>
                </a:moveTo>
                <a:lnTo>
                  <a:pt x="6191655" y="0"/>
                </a:lnTo>
                <a:lnTo>
                  <a:pt x="6191655" y="8329580"/>
                </a:lnTo>
                <a:lnTo>
                  <a:pt x="0" y="8329580"/>
                </a:lnTo>
                <a:lnTo>
                  <a:pt x="0" y="0"/>
                </a:lnTo>
                <a:close/>
              </a:path>
            </a:pathLst>
          </a:custGeom>
          <a:blipFill>
            <a:blip r:embed="rId4"/>
            <a:stretch>
              <a:fillRect l="0" t="0" r="0" b="0"/>
            </a:stretch>
          </a:blipFill>
        </p:spPr>
      </p:sp>
      <p:sp>
        <p:nvSpPr>
          <p:cNvPr name="Freeform 8" id="8"/>
          <p:cNvSpPr/>
          <p:nvPr/>
        </p:nvSpPr>
        <p:spPr>
          <a:xfrm flipH="false" flipV="false" rot="-9004555">
            <a:off x="-965214" y="-3212657"/>
            <a:ext cx="6965346" cy="6228181"/>
          </a:xfrm>
          <a:custGeom>
            <a:avLst/>
            <a:gdLst/>
            <a:ahLst/>
            <a:cxnLst/>
            <a:rect r="r" b="b" t="t" l="l"/>
            <a:pathLst>
              <a:path h="6228181" w="6965346">
                <a:moveTo>
                  <a:pt x="0" y="0"/>
                </a:moveTo>
                <a:lnTo>
                  <a:pt x="6965346" y="0"/>
                </a:lnTo>
                <a:lnTo>
                  <a:pt x="6965346" y="6228181"/>
                </a:lnTo>
                <a:lnTo>
                  <a:pt x="0" y="6228181"/>
                </a:lnTo>
                <a:lnTo>
                  <a:pt x="0" y="0"/>
                </a:lnTo>
                <a:close/>
              </a:path>
            </a:pathLst>
          </a:custGeom>
          <a:blipFill>
            <a:blip r:embed="rId5"/>
            <a:stretch>
              <a:fillRect l="0" t="0" r="0" b="0"/>
            </a:stretch>
          </a:blipFill>
        </p:spPr>
      </p:sp>
      <p:sp>
        <p:nvSpPr>
          <p:cNvPr name="Freeform 9" id="9"/>
          <p:cNvSpPr/>
          <p:nvPr/>
        </p:nvSpPr>
        <p:spPr>
          <a:xfrm flipH="false" flipV="false" rot="-7618174">
            <a:off x="-5357229" y="-805528"/>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10" id="10"/>
          <p:cNvSpPr/>
          <p:nvPr/>
        </p:nvSpPr>
        <p:spPr>
          <a:xfrm flipH="false" flipV="false" rot="-4013618">
            <a:off x="13776627" y="7328524"/>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11" id="11"/>
          <p:cNvSpPr/>
          <p:nvPr/>
        </p:nvSpPr>
        <p:spPr>
          <a:xfrm flipH="false" flipV="false" rot="5179680">
            <a:off x="13925475" y="-2955292"/>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9256" y="1434146"/>
            <a:ext cx="6288918" cy="1010995"/>
          </a:xfrm>
          <a:prstGeom prst="rect">
            <a:avLst/>
          </a:prstGeom>
        </p:spPr>
        <p:txBody>
          <a:bodyPr anchor="t" rtlCol="false" tIns="0" lIns="0" bIns="0" rIns="0">
            <a:spAutoFit/>
          </a:bodyPr>
          <a:lstStyle/>
          <a:p>
            <a:pPr algn="ctr" marL="0" indent="0" lvl="0">
              <a:lnSpc>
                <a:spcPts val="6913"/>
              </a:lnSpc>
              <a:spcBef>
                <a:spcPct val="0"/>
              </a:spcBef>
            </a:pPr>
            <a:r>
              <a:rPr lang="en-US" sz="8642">
                <a:solidFill>
                  <a:srgbClr val="000000"/>
                </a:solidFill>
                <a:latin typeface="Bobby Jones"/>
                <a:ea typeface="Bobby Jones"/>
                <a:cs typeface="Bobby Jones"/>
                <a:sym typeface="Bobby Jones"/>
              </a:rPr>
              <a:t>OBJECTIVE</a:t>
            </a:r>
          </a:p>
        </p:txBody>
      </p:sp>
      <p:sp>
        <p:nvSpPr>
          <p:cNvPr name="TextBox 3" id="3"/>
          <p:cNvSpPr txBox="true"/>
          <p:nvPr/>
        </p:nvSpPr>
        <p:spPr>
          <a:xfrm rot="0">
            <a:off x="3822631" y="3419639"/>
            <a:ext cx="10642737" cy="4937261"/>
          </a:xfrm>
          <a:prstGeom prst="rect">
            <a:avLst/>
          </a:prstGeom>
        </p:spPr>
        <p:txBody>
          <a:bodyPr anchor="t" rtlCol="false" tIns="0" lIns="0" bIns="0" rIns="0">
            <a:spAutoFit/>
          </a:bodyPr>
          <a:lstStyle/>
          <a:p>
            <a:pPr algn="l" marL="704133" indent="-352066" lvl="1">
              <a:lnSpc>
                <a:spcPts val="3261"/>
              </a:lnSpc>
              <a:buFont typeface="Arial"/>
              <a:buChar char="•"/>
            </a:pPr>
            <a:r>
              <a:rPr lang="en-US" sz="3261">
                <a:solidFill>
                  <a:srgbClr val="000000"/>
                </a:solidFill>
                <a:latin typeface="Glacial Indifference"/>
                <a:ea typeface="Glacial Indifference"/>
                <a:cs typeface="Glacial Indifference"/>
                <a:sym typeface="Glacial Indifference"/>
              </a:rPr>
              <a:t>T</a:t>
            </a:r>
            <a:r>
              <a:rPr lang="en-US" sz="3261">
                <a:solidFill>
                  <a:srgbClr val="000000"/>
                </a:solidFill>
                <a:latin typeface="Glacial Indifference"/>
                <a:ea typeface="Glacial Indifference"/>
                <a:cs typeface="Glacial Indifference"/>
                <a:sym typeface="Glacial Indifference"/>
              </a:rPr>
              <a:t>o provide a safe and anonymous platform for reporting bullying incidents.</a:t>
            </a:r>
          </a:p>
          <a:p>
            <a:pPr algn="l">
              <a:lnSpc>
                <a:spcPts val="3261"/>
              </a:lnSpc>
            </a:pPr>
          </a:p>
          <a:p>
            <a:pPr algn="l" marL="704133" indent="-352066" lvl="1">
              <a:lnSpc>
                <a:spcPts val="3261"/>
              </a:lnSpc>
              <a:buFont typeface="Arial"/>
              <a:buChar char="•"/>
            </a:pPr>
            <a:r>
              <a:rPr lang="en-US" sz="3261">
                <a:solidFill>
                  <a:srgbClr val="000000"/>
                </a:solidFill>
                <a:latin typeface="Glacial Indifference"/>
                <a:ea typeface="Glacial Indifference"/>
                <a:cs typeface="Glacial Indifference"/>
                <a:sym typeface="Glacial Indifference"/>
              </a:rPr>
              <a:t>To allow users to submit incident details and evidence.</a:t>
            </a:r>
          </a:p>
          <a:p>
            <a:pPr algn="just">
              <a:lnSpc>
                <a:spcPts val="3261"/>
              </a:lnSpc>
              <a:spcBef>
                <a:spcPct val="0"/>
              </a:spcBef>
            </a:pPr>
          </a:p>
          <a:p>
            <a:pPr algn="l" marL="704133" indent="-352066" lvl="1">
              <a:lnSpc>
                <a:spcPts val="3261"/>
              </a:lnSpc>
              <a:buFont typeface="Arial"/>
              <a:buChar char="•"/>
            </a:pPr>
            <a:r>
              <a:rPr lang="en-US" sz="3261">
                <a:solidFill>
                  <a:srgbClr val="000000"/>
                </a:solidFill>
                <a:latin typeface="Glacial Indifference"/>
                <a:ea typeface="Glacial Indifference"/>
                <a:cs typeface="Glacial Indifference"/>
                <a:sym typeface="Glacial Indifference"/>
              </a:rPr>
              <a:t>To provide Report ID-based case tracking.</a:t>
            </a:r>
          </a:p>
          <a:p>
            <a:pPr algn="just">
              <a:lnSpc>
                <a:spcPts val="3261"/>
              </a:lnSpc>
              <a:spcBef>
                <a:spcPct val="0"/>
              </a:spcBef>
            </a:pPr>
          </a:p>
          <a:p>
            <a:pPr algn="l" marL="704133" indent="-352066" lvl="1">
              <a:lnSpc>
                <a:spcPts val="3261"/>
              </a:lnSpc>
              <a:buFont typeface="Arial"/>
              <a:buChar char="•"/>
            </a:pPr>
            <a:r>
              <a:rPr lang="en-US" sz="3261">
                <a:solidFill>
                  <a:srgbClr val="000000"/>
                </a:solidFill>
                <a:latin typeface="Glacial Indifference"/>
                <a:ea typeface="Glacial Indifference"/>
                <a:cs typeface="Glacial Indifference"/>
                <a:sym typeface="Glacial Indifference"/>
              </a:rPr>
              <a:t>To help admins manage, monitor, and resolve cases efficiently.</a:t>
            </a:r>
          </a:p>
          <a:p>
            <a:pPr algn="just">
              <a:lnSpc>
                <a:spcPts val="3261"/>
              </a:lnSpc>
              <a:spcBef>
                <a:spcPct val="0"/>
              </a:spcBef>
            </a:pPr>
          </a:p>
          <a:p>
            <a:pPr algn="l" marL="704133" indent="-352066" lvl="1">
              <a:lnSpc>
                <a:spcPts val="3261"/>
              </a:lnSpc>
              <a:buFont typeface="Arial"/>
              <a:buChar char="•"/>
            </a:pPr>
            <a:r>
              <a:rPr lang="en-US" sz="3261">
                <a:solidFill>
                  <a:srgbClr val="000000"/>
                </a:solidFill>
                <a:latin typeface="Glacial Indifference"/>
                <a:ea typeface="Glacial Indifference"/>
                <a:cs typeface="Glacial Indifference"/>
                <a:sym typeface="Glacial Indifference"/>
              </a:rPr>
              <a:t>To use NLP and machine learning for cyberbullying detection.</a:t>
            </a:r>
          </a:p>
        </p:txBody>
      </p:sp>
      <p:sp>
        <p:nvSpPr>
          <p:cNvPr name="Freeform 4" id="4"/>
          <p:cNvSpPr/>
          <p:nvPr/>
        </p:nvSpPr>
        <p:spPr>
          <a:xfrm flipH="false" flipV="false" rot="3293269">
            <a:off x="1199832" y="1865583"/>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293269">
            <a:off x="16237727" y="9779010"/>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463619">
            <a:off x="14898391" y="2223890"/>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023662">
            <a:off x="-5528373" y="882454"/>
            <a:ext cx="6191655" cy="8329581"/>
          </a:xfrm>
          <a:custGeom>
            <a:avLst/>
            <a:gdLst/>
            <a:ahLst/>
            <a:cxnLst/>
            <a:rect r="r" b="b" t="t" l="l"/>
            <a:pathLst>
              <a:path h="8329581" w="6191655">
                <a:moveTo>
                  <a:pt x="0" y="0"/>
                </a:moveTo>
                <a:lnTo>
                  <a:pt x="6191655" y="0"/>
                </a:lnTo>
                <a:lnTo>
                  <a:pt x="6191655" y="8329580"/>
                </a:lnTo>
                <a:lnTo>
                  <a:pt x="0" y="8329580"/>
                </a:lnTo>
                <a:lnTo>
                  <a:pt x="0" y="0"/>
                </a:lnTo>
                <a:close/>
              </a:path>
            </a:pathLst>
          </a:custGeom>
          <a:blipFill>
            <a:blip r:embed="rId4"/>
            <a:stretch>
              <a:fillRect l="0" t="0" r="0" b="0"/>
            </a:stretch>
          </a:blipFill>
        </p:spPr>
      </p:sp>
      <p:sp>
        <p:nvSpPr>
          <p:cNvPr name="Freeform 8" id="8"/>
          <p:cNvSpPr/>
          <p:nvPr/>
        </p:nvSpPr>
        <p:spPr>
          <a:xfrm flipH="false" flipV="false" rot="-9004555">
            <a:off x="-965214" y="-3212657"/>
            <a:ext cx="6965346" cy="6228181"/>
          </a:xfrm>
          <a:custGeom>
            <a:avLst/>
            <a:gdLst/>
            <a:ahLst/>
            <a:cxnLst/>
            <a:rect r="r" b="b" t="t" l="l"/>
            <a:pathLst>
              <a:path h="6228181" w="6965346">
                <a:moveTo>
                  <a:pt x="0" y="0"/>
                </a:moveTo>
                <a:lnTo>
                  <a:pt x="6965346" y="0"/>
                </a:lnTo>
                <a:lnTo>
                  <a:pt x="6965346" y="6228181"/>
                </a:lnTo>
                <a:lnTo>
                  <a:pt x="0" y="6228181"/>
                </a:lnTo>
                <a:lnTo>
                  <a:pt x="0" y="0"/>
                </a:lnTo>
                <a:close/>
              </a:path>
            </a:pathLst>
          </a:custGeom>
          <a:blipFill>
            <a:blip r:embed="rId5"/>
            <a:stretch>
              <a:fillRect l="0" t="0" r="0" b="0"/>
            </a:stretch>
          </a:blipFill>
        </p:spPr>
      </p:sp>
      <p:sp>
        <p:nvSpPr>
          <p:cNvPr name="Freeform 9" id="9"/>
          <p:cNvSpPr/>
          <p:nvPr/>
        </p:nvSpPr>
        <p:spPr>
          <a:xfrm flipH="false" flipV="false" rot="-7618174">
            <a:off x="-5357229" y="-805528"/>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10" id="10"/>
          <p:cNvSpPr/>
          <p:nvPr/>
        </p:nvSpPr>
        <p:spPr>
          <a:xfrm flipH="false" flipV="false" rot="-4013618">
            <a:off x="13776627" y="7328524"/>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11" id="11"/>
          <p:cNvSpPr/>
          <p:nvPr/>
        </p:nvSpPr>
        <p:spPr>
          <a:xfrm flipH="false" flipV="false" rot="5179680">
            <a:off x="13530970" y="-2667425"/>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84222" y="3744595"/>
            <a:ext cx="5587718" cy="4267668"/>
          </a:xfrm>
          <a:prstGeom prst="rect">
            <a:avLst/>
          </a:prstGeom>
        </p:spPr>
        <p:txBody>
          <a:bodyPr anchor="t" rtlCol="false" tIns="0" lIns="0" bIns="0" rIns="0">
            <a:spAutoFit/>
          </a:bodyPr>
          <a:lstStyle/>
          <a:p>
            <a:pPr algn="l">
              <a:lnSpc>
                <a:spcPts val="2827"/>
              </a:lnSpc>
            </a:pPr>
            <a:r>
              <a:rPr lang="en-US" sz="2827">
                <a:solidFill>
                  <a:srgbClr val="000000"/>
                </a:solidFill>
                <a:latin typeface="Glacial Indifference"/>
                <a:ea typeface="Glacial Indifference"/>
                <a:cs typeface="Glacial Indifference"/>
                <a:sym typeface="Glacial Indifference"/>
              </a:rPr>
              <a:t>Hardware Requirements:</a:t>
            </a:r>
          </a:p>
          <a:p>
            <a:pPr algn="l">
              <a:lnSpc>
                <a:spcPts val="2827"/>
              </a:lnSpc>
            </a:pPr>
          </a:p>
          <a:p>
            <a:pPr algn="l" marL="610456" indent="-305228" lvl="1">
              <a:lnSpc>
                <a:spcPts val="2827"/>
              </a:lnSpc>
              <a:buFont typeface="Arial"/>
              <a:buChar char="•"/>
            </a:pPr>
            <a:r>
              <a:rPr lang="en-US" sz="2827" strike="noStrike" u="none">
                <a:solidFill>
                  <a:srgbClr val="000000"/>
                </a:solidFill>
                <a:latin typeface="Glacial Indifference"/>
                <a:ea typeface="Glacial Indifference"/>
                <a:cs typeface="Glacial Indifference"/>
                <a:sym typeface="Glacial Indifference"/>
              </a:rPr>
              <a:t>Laptop/Desktop computer</a:t>
            </a:r>
          </a:p>
          <a:p>
            <a:pPr algn="l" marL="0" indent="0" lvl="0">
              <a:lnSpc>
                <a:spcPts val="2827"/>
              </a:lnSpc>
              <a:spcBef>
                <a:spcPct val="0"/>
              </a:spcBef>
            </a:pPr>
          </a:p>
          <a:p>
            <a:pPr algn="l" marL="610456" indent="-305228" lvl="1">
              <a:lnSpc>
                <a:spcPts val="2827"/>
              </a:lnSpc>
              <a:buFont typeface="Arial"/>
              <a:buChar char="•"/>
            </a:pPr>
            <a:r>
              <a:rPr lang="en-US" sz="2827" strike="noStrike" u="none">
                <a:solidFill>
                  <a:srgbClr val="000000"/>
                </a:solidFill>
                <a:latin typeface="Glacial Indifference"/>
                <a:ea typeface="Glacial Indifference"/>
                <a:cs typeface="Glacial Indifference"/>
                <a:sym typeface="Glacial Indifference"/>
              </a:rPr>
              <a:t>Minimum 4 GB RAM</a:t>
            </a:r>
          </a:p>
          <a:p>
            <a:pPr algn="l" marL="0" indent="0" lvl="0">
              <a:lnSpc>
                <a:spcPts val="2827"/>
              </a:lnSpc>
              <a:spcBef>
                <a:spcPct val="0"/>
              </a:spcBef>
            </a:pPr>
          </a:p>
          <a:p>
            <a:pPr algn="l" marL="610456" indent="-305228" lvl="1">
              <a:lnSpc>
                <a:spcPts val="2827"/>
              </a:lnSpc>
              <a:buFont typeface="Arial"/>
              <a:buChar char="•"/>
            </a:pPr>
            <a:r>
              <a:rPr lang="en-US" sz="2827" strike="noStrike" u="none">
                <a:solidFill>
                  <a:srgbClr val="000000"/>
                </a:solidFill>
                <a:latin typeface="Glacial Indifference"/>
                <a:ea typeface="Glacial Indifference"/>
                <a:cs typeface="Glacial Indifference"/>
                <a:sym typeface="Glacial Indifference"/>
              </a:rPr>
              <a:t>Minimum 10 GB free storage</a:t>
            </a:r>
          </a:p>
          <a:p>
            <a:pPr algn="l" marL="0" indent="0" lvl="0">
              <a:lnSpc>
                <a:spcPts val="2827"/>
              </a:lnSpc>
              <a:spcBef>
                <a:spcPct val="0"/>
              </a:spcBef>
            </a:pPr>
          </a:p>
          <a:p>
            <a:pPr algn="l" marL="610456" indent="-305228" lvl="1">
              <a:lnSpc>
                <a:spcPts val="2827"/>
              </a:lnSpc>
              <a:buFont typeface="Arial"/>
              <a:buChar char="•"/>
            </a:pPr>
            <a:r>
              <a:rPr lang="en-US" sz="2827" strike="noStrike" u="none">
                <a:solidFill>
                  <a:srgbClr val="000000"/>
                </a:solidFill>
                <a:latin typeface="Glacial Indifference"/>
                <a:ea typeface="Glacial Indifference"/>
                <a:cs typeface="Glacial Indifference"/>
                <a:sym typeface="Glacial Indifference"/>
              </a:rPr>
              <a:t>Stable Internet connection</a:t>
            </a:r>
          </a:p>
          <a:p>
            <a:pPr algn="l">
              <a:lnSpc>
                <a:spcPts val="2827"/>
              </a:lnSpc>
            </a:pPr>
          </a:p>
          <a:p>
            <a:pPr algn="l" marL="0" indent="0" lvl="0">
              <a:lnSpc>
                <a:spcPts val="2827"/>
              </a:lnSpc>
              <a:spcBef>
                <a:spcPct val="0"/>
              </a:spcBef>
            </a:pPr>
          </a:p>
          <a:p>
            <a:pPr algn="l" marL="0" indent="0" lvl="0">
              <a:lnSpc>
                <a:spcPts val="2827"/>
              </a:lnSpc>
              <a:spcBef>
                <a:spcPct val="0"/>
              </a:spcBef>
            </a:pPr>
          </a:p>
        </p:txBody>
      </p:sp>
      <p:sp>
        <p:nvSpPr>
          <p:cNvPr name="TextBox 3" id="3"/>
          <p:cNvSpPr txBox="true"/>
          <p:nvPr/>
        </p:nvSpPr>
        <p:spPr>
          <a:xfrm rot="0">
            <a:off x="3645666" y="1758473"/>
            <a:ext cx="10612645" cy="749370"/>
          </a:xfrm>
          <a:prstGeom prst="rect">
            <a:avLst/>
          </a:prstGeom>
        </p:spPr>
        <p:txBody>
          <a:bodyPr anchor="t" rtlCol="false" tIns="0" lIns="0" bIns="0" rIns="0">
            <a:spAutoFit/>
          </a:bodyPr>
          <a:lstStyle/>
          <a:p>
            <a:pPr algn="ctr">
              <a:lnSpc>
                <a:spcPts val="5138"/>
              </a:lnSpc>
            </a:pPr>
            <a:r>
              <a:rPr lang="en-US" sz="6423">
                <a:solidFill>
                  <a:srgbClr val="000000"/>
                </a:solidFill>
                <a:latin typeface="Bobby Jones"/>
                <a:ea typeface="Bobby Jones"/>
                <a:cs typeface="Bobby Jones"/>
                <a:sym typeface="Bobby Jones"/>
              </a:rPr>
              <a:t>HARDWARE AND SOFTWARE </a:t>
            </a:r>
          </a:p>
        </p:txBody>
      </p:sp>
      <p:sp>
        <p:nvSpPr>
          <p:cNvPr name="Freeform 4" id="4"/>
          <p:cNvSpPr/>
          <p:nvPr/>
        </p:nvSpPr>
        <p:spPr>
          <a:xfrm flipH="false" flipV="false" rot="3293269">
            <a:off x="24685" y="4656692"/>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3293269">
            <a:off x="17054638" y="7745109"/>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2463619">
            <a:off x="17322535" y="3429816"/>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9248010">
            <a:off x="14509286" y="5604318"/>
            <a:ext cx="6965346" cy="6228181"/>
          </a:xfrm>
          <a:custGeom>
            <a:avLst/>
            <a:gdLst/>
            <a:ahLst/>
            <a:cxnLst/>
            <a:rect r="r" b="b" t="t" l="l"/>
            <a:pathLst>
              <a:path h="6228181" w="6965346">
                <a:moveTo>
                  <a:pt x="0" y="0"/>
                </a:moveTo>
                <a:lnTo>
                  <a:pt x="6965346" y="0"/>
                </a:lnTo>
                <a:lnTo>
                  <a:pt x="6965346" y="6228180"/>
                </a:lnTo>
                <a:lnTo>
                  <a:pt x="0" y="6228180"/>
                </a:lnTo>
                <a:lnTo>
                  <a:pt x="0" y="0"/>
                </a:lnTo>
                <a:close/>
              </a:path>
            </a:pathLst>
          </a:custGeom>
          <a:blipFill>
            <a:blip r:embed="rId4"/>
            <a:stretch>
              <a:fillRect l="0" t="0" r="0" b="0"/>
            </a:stretch>
          </a:blipFill>
        </p:spPr>
      </p:sp>
      <p:sp>
        <p:nvSpPr>
          <p:cNvPr name="Freeform 8" id="8"/>
          <p:cNvSpPr/>
          <p:nvPr/>
        </p:nvSpPr>
        <p:spPr>
          <a:xfrm flipH="false" flipV="false" rot="-2855680">
            <a:off x="-2453973" y="-5044119"/>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5"/>
            <a:stretch>
              <a:fillRect l="0" t="0" r="0" b="0"/>
            </a:stretch>
          </a:blipFill>
        </p:spPr>
      </p:sp>
      <p:sp>
        <p:nvSpPr>
          <p:cNvPr name="Freeform 9" id="9"/>
          <p:cNvSpPr/>
          <p:nvPr/>
        </p:nvSpPr>
        <p:spPr>
          <a:xfrm flipH="false" flipV="false" rot="2916453">
            <a:off x="15644272" y="-3599407"/>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5"/>
            <a:stretch>
              <a:fillRect l="0" t="0" r="0" b="0"/>
            </a:stretch>
          </a:blipFill>
        </p:spPr>
      </p:sp>
      <p:sp>
        <p:nvSpPr>
          <p:cNvPr name="Freeform 10" id="10"/>
          <p:cNvSpPr/>
          <p:nvPr/>
        </p:nvSpPr>
        <p:spPr>
          <a:xfrm flipH="false" flipV="false" rot="-5400000">
            <a:off x="-213412" y="6525050"/>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16017130" y="-1981441"/>
            <a:ext cx="3482673" cy="4706315"/>
          </a:xfrm>
          <a:custGeom>
            <a:avLst/>
            <a:gdLst/>
            <a:ahLst/>
            <a:cxnLst/>
            <a:rect r="r" b="b" t="t" l="l"/>
            <a:pathLst>
              <a:path h="4706315" w="3482673">
                <a:moveTo>
                  <a:pt x="0" y="0"/>
                </a:moveTo>
                <a:lnTo>
                  <a:pt x="3482673" y="0"/>
                </a:lnTo>
                <a:lnTo>
                  <a:pt x="3482673" y="4706315"/>
                </a:lnTo>
                <a:lnTo>
                  <a:pt x="0" y="47063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7391040" y="2987768"/>
            <a:ext cx="7635942" cy="7142656"/>
          </a:xfrm>
          <a:prstGeom prst="rect">
            <a:avLst/>
          </a:prstGeom>
        </p:spPr>
        <p:txBody>
          <a:bodyPr anchor="t" rtlCol="false" tIns="0" lIns="0" bIns="0" rIns="0">
            <a:spAutoFit/>
          </a:bodyPr>
          <a:lstStyle/>
          <a:p>
            <a:pPr algn="l">
              <a:lnSpc>
                <a:spcPts val="2581"/>
              </a:lnSpc>
            </a:pPr>
          </a:p>
          <a:p>
            <a:pPr algn="l">
              <a:lnSpc>
                <a:spcPts val="2581"/>
              </a:lnSpc>
            </a:pPr>
            <a:r>
              <a:rPr lang="en-US" sz="2581" strike="noStrike" u="none">
                <a:solidFill>
                  <a:srgbClr val="000000"/>
                </a:solidFill>
                <a:latin typeface="Glacial Indifference"/>
                <a:ea typeface="Glacial Indifference"/>
                <a:cs typeface="Glacial Indifference"/>
                <a:sym typeface="Glacial Indifference"/>
              </a:rPr>
              <a:t>Software Requirements:</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Frontend: Next.js, HTML, CSS, JavaScript</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Backend: Next.js API Routes / Server Actions</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Database: Supabase PostgreSQL</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Authentication: Supabase Auth</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Storage: Supabase Storage</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Development Tool: VS Code</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Hosting: Vercel</a:t>
            </a:r>
          </a:p>
          <a:p>
            <a:pPr algn="l">
              <a:lnSpc>
                <a:spcPts val="2581"/>
              </a:lnSpc>
            </a:pPr>
          </a:p>
          <a:p>
            <a:pPr algn="l" marL="557438" indent="-278719" lvl="1">
              <a:lnSpc>
                <a:spcPts val="2581"/>
              </a:lnSpc>
              <a:buFont typeface="Arial"/>
              <a:buChar char="•"/>
            </a:pPr>
            <a:r>
              <a:rPr lang="en-US" sz="2581" strike="noStrike" u="none">
                <a:solidFill>
                  <a:srgbClr val="000000"/>
                </a:solidFill>
                <a:latin typeface="Glacial Indifference"/>
                <a:ea typeface="Glacial Indifference"/>
                <a:cs typeface="Glacial Indifference"/>
                <a:sym typeface="Glacial Indifference"/>
              </a:rPr>
              <a:t>Machine Learning: Python, Pandas, Scikit-learn, NLTK</a:t>
            </a:r>
          </a:p>
          <a:p>
            <a:pPr algn="l">
              <a:lnSpc>
                <a:spcPts val="2581"/>
              </a:lnSpc>
            </a:pPr>
          </a:p>
          <a:p>
            <a:pPr algn="l" marL="0" indent="0" lvl="0">
              <a:lnSpc>
                <a:spcPts val="2581"/>
              </a:lnSpc>
              <a:spcBef>
                <a:spcPct val="0"/>
              </a:spcBef>
            </a:pPr>
          </a:p>
          <a:p>
            <a:pPr algn="l" marL="0" indent="0" lvl="0">
              <a:lnSpc>
                <a:spcPts val="258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448052" y="981030"/>
            <a:ext cx="7609709" cy="853402"/>
          </a:xfrm>
          <a:prstGeom prst="rect">
            <a:avLst/>
          </a:prstGeom>
        </p:spPr>
        <p:txBody>
          <a:bodyPr anchor="t" rtlCol="false" tIns="0" lIns="0" bIns="0" rIns="0">
            <a:spAutoFit/>
          </a:bodyPr>
          <a:lstStyle/>
          <a:p>
            <a:pPr algn="ctr" marL="0" indent="0" lvl="0">
              <a:lnSpc>
                <a:spcPts val="5885"/>
              </a:lnSpc>
              <a:spcBef>
                <a:spcPct val="0"/>
              </a:spcBef>
            </a:pPr>
            <a:r>
              <a:rPr lang="en-US" sz="7357">
                <a:solidFill>
                  <a:srgbClr val="000000"/>
                </a:solidFill>
                <a:latin typeface="Bobby Jones"/>
                <a:ea typeface="Bobby Jones"/>
                <a:cs typeface="Bobby Jones"/>
                <a:sym typeface="Bobby Jones"/>
              </a:rPr>
              <a:t>IMPLEMENTATION</a:t>
            </a:r>
          </a:p>
        </p:txBody>
      </p:sp>
      <p:sp>
        <p:nvSpPr>
          <p:cNvPr name="Freeform 3" id="3"/>
          <p:cNvSpPr/>
          <p:nvPr/>
        </p:nvSpPr>
        <p:spPr>
          <a:xfrm flipH="false" flipV="false" rot="3293269">
            <a:off x="828744" y="974118"/>
            <a:ext cx="912636" cy="534307"/>
          </a:xfrm>
          <a:custGeom>
            <a:avLst/>
            <a:gdLst/>
            <a:ahLst/>
            <a:cxnLst/>
            <a:rect r="r" b="b" t="t" l="l"/>
            <a:pathLst>
              <a:path h="534307" w="912636">
                <a:moveTo>
                  <a:pt x="0" y="0"/>
                </a:moveTo>
                <a:lnTo>
                  <a:pt x="912635" y="0"/>
                </a:lnTo>
                <a:lnTo>
                  <a:pt x="912635"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293269">
            <a:off x="16501395" y="9339362"/>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463619">
            <a:off x="16802982" y="761547"/>
            <a:ext cx="912636" cy="534307"/>
          </a:xfrm>
          <a:custGeom>
            <a:avLst/>
            <a:gdLst/>
            <a:ahLst/>
            <a:cxnLst/>
            <a:rect r="r" b="b" t="t" l="l"/>
            <a:pathLst>
              <a:path h="534307" w="912636">
                <a:moveTo>
                  <a:pt x="0" y="0"/>
                </a:moveTo>
                <a:lnTo>
                  <a:pt x="912636" y="0"/>
                </a:lnTo>
                <a:lnTo>
                  <a:pt x="912636" y="534306"/>
                </a:lnTo>
                <a:lnTo>
                  <a:pt x="0" y="534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023662">
            <a:off x="-5528373" y="882454"/>
            <a:ext cx="6191655" cy="8329581"/>
          </a:xfrm>
          <a:custGeom>
            <a:avLst/>
            <a:gdLst/>
            <a:ahLst/>
            <a:cxnLst/>
            <a:rect r="r" b="b" t="t" l="l"/>
            <a:pathLst>
              <a:path h="8329581" w="6191655">
                <a:moveTo>
                  <a:pt x="0" y="0"/>
                </a:moveTo>
                <a:lnTo>
                  <a:pt x="6191655" y="0"/>
                </a:lnTo>
                <a:lnTo>
                  <a:pt x="6191655" y="8329580"/>
                </a:lnTo>
                <a:lnTo>
                  <a:pt x="0" y="8329580"/>
                </a:lnTo>
                <a:lnTo>
                  <a:pt x="0" y="0"/>
                </a:lnTo>
                <a:close/>
              </a:path>
            </a:pathLst>
          </a:custGeom>
          <a:blipFill>
            <a:blip r:embed="rId4"/>
            <a:stretch>
              <a:fillRect l="0" t="0" r="0" b="0"/>
            </a:stretch>
          </a:blipFill>
        </p:spPr>
      </p:sp>
      <p:sp>
        <p:nvSpPr>
          <p:cNvPr name="Freeform 7" id="7"/>
          <p:cNvSpPr/>
          <p:nvPr/>
        </p:nvSpPr>
        <p:spPr>
          <a:xfrm flipH="false" flipV="false" rot="-9004555">
            <a:off x="-965214" y="-3212657"/>
            <a:ext cx="6965346" cy="6228181"/>
          </a:xfrm>
          <a:custGeom>
            <a:avLst/>
            <a:gdLst/>
            <a:ahLst/>
            <a:cxnLst/>
            <a:rect r="r" b="b" t="t" l="l"/>
            <a:pathLst>
              <a:path h="6228181" w="6965346">
                <a:moveTo>
                  <a:pt x="0" y="0"/>
                </a:moveTo>
                <a:lnTo>
                  <a:pt x="6965346" y="0"/>
                </a:lnTo>
                <a:lnTo>
                  <a:pt x="6965346" y="6228181"/>
                </a:lnTo>
                <a:lnTo>
                  <a:pt x="0" y="6228181"/>
                </a:lnTo>
                <a:lnTo>
                  <a:pt x="0" y="0"/>
                </a:lnTo>
                <a:close/>
              </a:path>
            </a:pathLst>
          </a:custGeom>
          <a:blipFill>
            <a:blip r:embed="rId5"/>
            <a:stretch>
              <a:fillRect l="0" t="0" r="0" b="0"/>
            </a:stretch>
          </a:blipFill>
        </p:spPr>
      </p:sp>
      <p:sp>
        <p:nvSpPr>
          <p:cNvPr name="Freeform 8" id="8"/>
          <p:cNvSpPr/>
          <p:nvPr/>
        </p:nvSpPr>
        <p:spPr>
          <a:xfrm flipH="false" flipV="false" rot="-7618174">
            <a:off x="-5357229" y="-805528"/>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9" id="9"/>
          <p:cNvSpPr/>
          <p:nvPr/>
        </p:nvSpPr>
        <p:spPr>
          <a:xfrm flipH="false" flipV="false" rot="-4013618">
            <a:off x="13776627" y="7328524"/>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6"/>
            <a:stretch>
              <a:fillRect l="0" t="0" r="0" b="0"/>
            </a:stretch>
          </a:blipFill>
        </p:spPr>
      </p:sp>
      <p:sp>
        <p:nvSpPr>
          <p:cNvPr name="Freeform 10" id="10"/>
          <p:cNvSpPr/>
          <p:nvPr/>
        </p:nvSpPr>
        <p:spPr>
          <a:xfrm flipH="false" flipV="false" rot="5179680">
            <a:off x="14423119" y="-3983992"/>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6"/>
            <a:stretch>
              <a:fillRect l="0" t="0" r="0" b="0"/>
            </a:stretch>
          </a:blipFill>
        </p:spPr>
      </p:sp>
      <p:sp>
        <p:nvSpPr>
          <p:cNvPr name="Freeform 11" id="11"/>
          <p:cNvSpPr/>
          <p:nvPr/>
        </p:nvSpPr>
        <p:spPr>
          <a:xfrm flipH="false" flipV="false" rot="0">
            <a:off x="4559816" y="4920387"/>
            <a:ext cx="9168641" cy="4337913"/>
          </a:xfrm>
          <a:custGeom>
            <a:avLst/>
            <a:gdLst/>
            <a:ahLst/>
            <a:cxnLst/>
            <a:rect r="r" b="b" t="t" l="l"/>
            <a:pathLst>
              <a:path h="4337913" w="9168641">
                <a:moveTo>
                  <a:pt x="0" y="0"/>
                </a:moveTo>
                <a:lnTo>
                  <a:pt x="9168642" y="0"/>
                </a:lnTo>
                <a:lnTo>
                  <a:pt x="9168642" y="4337913"/>
                </a:lnTo>
                <a:lnTo>
                  <a:pt x="0" y="4337913"/>
                </a:lnTo>
                <a:lnTo>
                  <a:pt x="0" y="0"/>
                </a:lnTo>
                <a:close/>
              </a:path>
            </a:pathLst>
          </a:custGeom>
          <a:blipFill>
            <a:blip r:embed="rId7"/>
            <a:stretch>
              <a:fillRect l="0" t="0" r="0" b="0"/>
            </a:stretch>
          </a:blipFill>
        </p:spPr>
      </p:sp>
      <p:sp>
        <p:nvSpPr>
          <p:cNvPr name="TextBox 12" id="12"/>
          <p:cNvSpPr txBox="true"/>
          <p:nvPr/>
        </p:nvSpPr>
        <p:spPr>
          <a:xfrm rot="0">
            <a:off x="4538018" y="3326702"/>
            <a:ext cx="9168915" cy="722225"/>
          </a:xfrm>
          <a:prstGeom prst="rect">
            <a:avLst/>
          </a:prstGeom>
        </p:spPr>
        <p:txBody>
          <a:bodyPr anchor="t" rtlCol="false" tIns="0" lIns="0" bIns="0" rIns="0">
            <a:spAutoFit/>
          </a:bodyPr>
          <a:lstStyle/>
          <a:p>
            <a:pPr algn="ctr">
              <a:lnSpc>
                <a:spcPts val="5867"/>
              </a:lnSpc>
              <a:spcBef>
                <a:spcPct val="0"/>
              </a:spcBef>
            </a:pPr>
            <a:r>
              <a:rPr lang="en-US" sz="4190">
                <a:solidFill>
                  <a:srgbClr val="1D6100"/>
                </a:solidFill>
                <a:latin typeface="Bobby Jones"/>
                <a:ea typeface="Bobby Jones"/>
                <a:cs typeface="Bobby Jones"/>
                <a:sym typeface="Bobby Jones"/>
              </a:rPr>
              <a:t>WEBSITE : </a:t>
            </a:r>
            <a:r>
              <a:rPr lang="en-US" sz="4190" u="sng">
                <a:solidFill>
                  <a:srgbClr val="1D6100"/>
                </a:solidFill>
                <a:latin typeface="Bobby Jones"/>
                <a:ea typeface="Bobby Jones"/>
                <a:cs typeface="Bobby Jones"/>
                <a:sym typeface="Bobby Jones"/>
              </a:rPr>
              <a:t>HTTPS://RAGRAKSHA.COM/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3926572" y="-2344977"/>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2"/>
            <a:stretch>
              <a:fillRect l="0" t="0" r="0" b="0"/>
            </a:stretch>
          </a:blipFill>
        </p:spPr>
      </p:sp>
      <p:sp>
        <p:nvSpPr>
          <p:cNvPr name="Freeform 3" id="3"/>
          <p:cNvSpPr/>
          <p:nvPr/>
        </p:nvSpPr>
        <p:spPr>
          <a:xfrm flipH="false" flipV="false" rot="3305067">
            <a:off x="10600760" y="7167114"/>
            <a:ext cx="6191655" cy="8329581"/>
          </a:xfrm>
          <a:custGeom>
            <a:avLst/>
            <a:gdLst/>
            <a:ahLst/>
            <a:cxnLst/>
            <a:rect r="r" b="b" t="t" l="l"/>
            <a:pathLst>
              <a:path h="8329581" w="6191655">
                <a:moveTo>
                  <a:pt x="0" y="0"/>
                </a:moveTo>
                <a:lnTo>
                  <a:pt x="6191655" y="0"/>
                </a:lnTo>
                <a:lnTo>
                  <a:pt x="6191655" y="8329581"/>
                </a:lnTo>
                <a:lnTo>
                  <a:pt x="0" y="8329581"/>
                </a:lnTo>
                <a:lnTo>
                  <a:pt x="0" y="0"/>
                </a:lnTo>
                <a:close/>
              </a:path>
            </a:pathLst>
          </a:custGeom>
          <a:blipFill>
            <a:blip r:embed="rId3"/>
            <a:stretch>
              <a:fillRect l="0" t="0" r="0" b="0"/>
            </a:stretch>
          </a:blipFill>
        </p:spPr>
      </p:sp>
      <p:sp>
        <p:nvSpPr>
          <p:cNvPr name="TextBox 4" id="4"/>
          <p:cNvSpPr txBox="true"/>
          <p:nvPr/>
        </p:nvSpPr>
        <p:spPr>
          <a:xfrm rot="0">
            <a:off x="3142089" y="3790376"/>
            <a:ext cx="12003822" cy="2253405"/>
          </a:xfrm>
          <a:prstGeom prst="rect">
            <a:avLst/>
          </a:prstGeom>
        </p:spPr>
        <p:txBody>
          <a:bodyPr anchor="t" rtlCol="false" tIns="0" lIns="0" bIns="0" rIns="0">
            <a:spAutoFit/>
          </a:bodyPr>
          <a:lstStyle/>
          <a:p>
            <a:pPr algn="ctr" marL="0" indent="0" lvl="0">
              <a:lnSpc>
                <a:spcPts val="15511"/>
              </a:lnSpc>
              <a:spcBef>
                <a:spcPct val="0"/>
              </a:spcBef>
            </a:pPr>
            <a:r>
              <a:rPr lang="en-US" sz="19150">
                <a:solidFill>
                  <a:srgbClr val="000000"/>
                </a:solidFill>
                <a:latin typeface="Bobby Jones"/>
                <a:ea typeface="Bobby Jones"/>
                <a:cs typeface="Bobby Jones"/>
                <a:sym typeface="Bobby Jones"/>
              </a:rPr>
              <a:t>THANK YOU</a:t>
            </a:r>
          </a:p>
        </p:txBody>
      </p:sp>
      <p:sp>
        <p:nvSpPr>
          <p:cNvPr name="Freeform 5" id="5"/>
          <p:cNvSpPr/>
          <p:nvPr/>
        </p:nvSpPr>
        <p:spPr>
          <a:xfrm flipH="false" flipV="false" rot="3293269">
            <a:off x="572382" y="5364614"/>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293269">
            <a:off x="12577491" y="9422254"/>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463619">
            <a:off x="15059410" y="3442165"/>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4380893">
            <a:off x="5531497" y="7774667"/>
            <a:ext cx="6191655" cy="8329581"/>
          </a:xfrm>
          <a:custGeom>
            <a:avLst/>
            <a:gdLst/>
            <a:ahLst/>
            <a:cxnLst/>
            <a:rect r="r" b="b" t="t" l="l"/>
            <a:pathLst>
              <a:path h="8329581" w="6191655">
                <a:moveTo>
                  <a:pt x="0" y="0"/>
                </a:moveTo>
                <a:lnTo>
                  <a:pt x="6191655" y="0"/>
                </a:lnTo>
                <a:lnTo>
                  <a:pt x="6191655" y="8329581"/>
                </a:lnTo>
                <a:lnTo>
                  <a:pt x="0" y="8329581"/>
                </a:lnTo>
                <a:lnTo>
                  <a:pt x="0" y="0"/>
                </a:lnTo>
                <a:close/>
              </a:path>
            </a:pathLst>
          </a:custGeom>
          <a:blipFill>
            <a:blip r:embed="rId3"/>
            <a:stretch>
              <a:fillRect l="0" t="0" r="0" b="0"/>
            </a:stretch>
          </a:blipFill>
        </p:spPr>
      </p:sp>
      <p:sp>
        <p:nvSpPr>
          <p:cNvPr name="Freeform 9" id="9"/>
          <p:cNvSpPr/>
          <p:nvPr/>
        </p:nvSpPr>
        <p:spPr>
          <a:xfrm flipH="false" flipV="false" rot="1551989">
            <a:off x="-201778" y="-2939506"/>
            <a:ext cx="6965346" cy="5927522"/>
          </a:xfrm>
          <a:custGeom>
            <a:avLst/>
            <a:gdLst/>
            <a:ahLst/>
            <a:cxnLst/>
            <a:rect r="r" b="b" t="t" l="l"/>
            <a:pathLst>
              <a:path h="5927522" w="6965346">
                <a:moveTo>
                  <a:pt x="0" y="0"/>
                </a:moveTo>
                <a:lnTo>
                  <a:pt x="6965346" y="0"/>
                </a:lnTo>
                <a:lnTo>
                  <a:pt x="6965346" y="5927522"/>
                </a:lnTo>
                <a:lnTo>
                  <a:pt x="0" y="5927522"/>
                </a:lnTo>
                <a:lnTo>
                  <a:pt x="0" y="0"/>
                </a:lnTo>
                <a:close/>
              </a:path>
            </a:pathLst>
          </a:custGeom>
          <a:blipFill>
            <a:blip r:embed="rId6"/>
            <a:stretch>
              <a:fillRect l="0" t="0" r="0" b="-5072"/>
            </a:stretch>
          </a:blipFill>
        </p:spPr>
      </p:sp>
      <p:sp>
        <p:nvSpPr>
          <p:cNvPr name="Freeform 10" id="10"/>
          <p:cNvSpPr/>
          <p:nvPr/>
        </p:nvSpPr>
        <p:spPr>
          <a:xfrm flipH="false" flipV="false" rot="9409508">
            <a:off x="-3501642" y="345600"/>
            <a:ext cx="6965346" cy="7967984"/>
          </a:xfrm>
          <a:custGeom>
            <a:avLst/>
            <a:gdLst/>
            <a:ahLst/>
            <a:cxnLst/>
            <a:rect r="r" b="b" t="t" l="l"/>
            <a:pathLst>
              <a:path h="7967984" w="6965346">
                <a:moveTo>
                  <a:pt x="0" y="0"/>
                </a:moveTo>
                <a:lnTo>
                  <a:pt x="6965346" y="0"/>
                </a:lnTo>
                <a:lnTo>
                  <a:pt x="6965346" y="7967985"/>
                </a:lnTo>
                <a:lnTo>
                  <a:pt x="0" y="7967985"/>
                </a:lnTo>
                <a:lnTo>
                  <a:pt x="0" y="0"/>
                </a:lnTo>
                <a:close/>
              </a:path>
            </a:pathLst>
          </a:custGeom>
          <a:blipFill>
            <a:blip r:embed="rId2"/>
            <a:stretch>
              <a:fillRect l="0" t="0" r="0" b="0"/>
            </a:stretch>
          </a:blipFill>
        </p:spPr>
      </p:sp>
      <p:sp>
        <p:nvSpPr>
          <p:cNvPr name="Freeform 11" id="11"/>
          <p:cNvSpPr/>
          <p:nvPr/>
        </p:nvSpPr>
        <p:spPr>
          <a:xfrm flipH="false" flipV="false" rot="5400000">
            <a:off x="15609808" y="4921434"/>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2"/>
            <a:stretch>
              <a:fillRect l="0" t="0" r="0" b="0"/>
            </a:stretch>
          </a:blipFill>
        </p:spPr>
      </p:sp>
      <p:sp>
        <p:nvSpPr>
          <p:cNvPr name="Freeform 12" id="12"/>
          <p:cNvSpPr/>
          <p:nvPr/>
        </p:nvSpPr>
        <p:spPr>
          <a:xfrm flipH="false" flipV="false" rot="-7506730">
            <a:off x="6086948" y="1633706"/>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8336380">
            <a:off x="3055888" y="2364825"/>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6506845">
            <a:off x="14254351" y="9076576"/>
            <a:ext cx="912636" cy="534307"/>
          </a:xfrm>
          <a:custGeom>
            <a:avLst/>
            <a:gdLst/>
            <a:ahLst/>
            <a:cxnLst/>
            <a:rect r="r" b="b" t="t" l="l"/>
            <a:pathLst>
              <a:path h="534307" w="912636">
                <a:moveTo>
                  <a:pt x="0" y="0"/>
                </a:moveTo>
                <a:lnTo>
                  <a:pt x="912636" y="0"/>
                </a:lnTo>
                <a:lnTo>
                  <a:pt x="912636" y="534307"/>
                </a:lnTo>
                <a:lnTo>
                  <a:pt x="0" y="53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5400000">
            <a:off x="14789161" y="-452298"/>
            <a:ext cx="3482673" cy="4706315"/>
          </a:xfrm>
          <a:custGeom>
            <a:avLst/>
            <a:gdLst/>
            <a:ahLst/>
            <a:cxnLst/>
            <a:rect r="r" b="b" t="t" l="l"/>
            <a:pathLst>
              <a:path h="4706315" w="3482673">
                <a:moveTo>
                  <a:pt x="0" y="0"/>
                </a:moveTo>
                <a:lnTo>
                  <a:pt x="3482674" y="0"/>
                </a:lnTo>
                <a:lnTo>
                  <a:pt x="3482674" y="4706315"/>
                </a:lnTo>
                <a:lnTo>
                  <a:pt x="0" y="47063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5400000">
            <a:off x="-1784476" y="7102259"/>
            <a:ext cx="6965346" cy="6228181"/>
          </a:xfrm>
          <a:custGeom>
            <a:avLst/>
            <a:gdLst/>
            <a:ahLst/>
            <a:cxnLst/>
            <a:rect r="r" b="b" t="t" l="l"/>
            <a:pathLst>
              <a:path h="6228181" w="6965346">
                <a:moveTo>
                  <a:pt x="0" y="0"/>
                </a:moveTo>
                <a:lnTo>
                  <a:pt x="6965347" y="0"/>
                </a:lnTo>
                <a:lnTo>
                  <a:pt x="6965347" y="6228181"/>
                </a:lnTo>
                <a:lnTo>
                  <a:pt x="0" y="6228181"/>
                </a:lnTo>
                <a:lnTo>
                  <a:pt x="0" y="0"/>
                </a:lnTo>
                <a:close/>
              </a:path>
            </a:pathLst>
          </a:custGeom>
          <a:blipFill>
            <a:blip r:embed="rId6"/>
            <a:stretch>
              <a:fillRect l="0" t="0" r="0" b="0"/>
            </a:stretch>
          </a:blipFill>
        </p:spPr>
      </p:sp>
      <p:sp>
        <p:nvSpPr>
          <p:cNvPr name="Freeform 17" id="17"/>
          <p:cNvSpPr/>
          <p:nvPr/>
        </p:nvSpPr>
        <p:spPr>
          <a:xfrm flipH="false" flipV="false" rot="5400000">
            <a:off x="-277894" y="-137396"/>
            <a:ext cx="3482673" cy="3058420"/>
          </a:xfrm>
          <a:custGeom>
            <a:avLst/>
            <a:gdLst/>
            <a:ahLst/>
            <a:cxnLst/>
            <a:rect r="r" b="b" t="t" l="l"/>
            <a:pathLst>
              <a:path h="3058420" w="3482673">
                <a:moveTo>
                  <a:pt x="0" y="0"/>
                </a:moveTo>
                <a:lnTo>
                  <a:pt x="3482674" y="0"/>
                </a:lnTo>
                <a:lnTo>
                  <a:pt x="3482674" y="3058421"/>
                </a:lnTo>
                <a:lnTo>
                  <a:pt x="0" y="30584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5400000">
            <a:off x="15380341" y="8004369"/>
            <a:ext cx="3482673" cy="3172399"/>
          </a:xfrm>
          <a:custGeom>
            <a:avLst/>
            <a:gdLst/>
            <a:ahLst/>
            <a:cxnLst/>
            <a:rect r="r" b="b" t="t" l="l"/>
            <a:pathLst>
              <a:path h="3172399" w="3482673">
                <a:moveTo>
                  <a:pt x="0" y="0"/>
                </a:moveTo>
                <a:lnTo>
                  <a:pt x="3482673" y="0"/>
                </a:lnTo>
                <a:lnTo>
                  <a:pt x="3482673" y="3172398"/>
                </a:lnTo>
                <a:lnTo>
                  <a:pt x="0" y="317239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6786381">
            <a:off x="7499138" y="-5108556"/>
            <a:ext cx="6965346" cy="7967984"/>
          </a:xfrm>
          <a:custGeom>
            <a:avLst/>
            <a:gdLst/>
            <a:ahLst/>
            <a:cxnLst/>
            <a:rect r="r" b="b" t="t" l="l"/>
            <a:pathLst>
              <a:path h="7967984" w="6965346">
                <a:moveTo>
                  <a:pt x="0" y="0"/>
                </a:moveTo>
                <a:lnTo>
                  <a:pt x="6965346" y="0"/>
                </a:lnTo>
                <a:lnTo>
                  <a:pt x="6965346" y="7967984"/>
                </a:lnTo>
                <a:lnTo>
                  <a:pt x="0" y="7967984"/>
                </a:lnTo>
                <a:lnTo>
                  <a:pt x="0" y="0"/>
                </a:lnTo>
                <a:close/>
              </a:path>
            </a:pathLst>
          </a:custGeom>
          <a:blipFill>
            <a:blip r:embed="rId2"/>
            <a:stretch>
              <a:fillRect l="0" t="0" r="0" b="0"/>
            </a:stretch>
          </a:blipFill>
        </p:spPr>
      </p:sp>
      <p:sp>
        <p:nvSpPr>
          <p:cNvPr name="Freeform 20" id="20"/>
          <p:cNvSpPr/>
          <p:nvPr/>
        </p:nvSpPr>
        <p:spPr>
          <a:xfrm flipH="false" flipV="false" rot="6786381">
            <a:off x="2768921" y="7988495"/>
            <a:ext cx="6965346" cy="7967984"/>
          </a:xfrm>
          <a:custGeom>
            <a:avLst/>
            <a:gdLst/>
            <a:ahLst/>
            <a:cxnLst/>
            <a:rect r="r" b="b" t="t" l="l"/>
            <a:pathLst>
              <a:path h="7967984" w="6965346">
                <a:moveTo>
                  <a:pt x="0" y="0"/>
                </a:moveTo>
                <a:lnTo>
                  <a:pt x="6965347" y="0"/>
                </a:lnTo>
                <a:lnTo>
                  <a:pt x="6965347" y="7967985"/>
                </a:lnTo>
                <a:lnTo>
                  <a:pt x="0" y="7967985"/>
                </a:lnTo>
                <a:lnTo>
                  <a:pt x="0" y="0"/>
                </a:lnTo>
                <a:close/>
              </a:path>
            </a:pathLst>
          </a:custGeom>
          <a:blipFill>
            <a:blip r:embed="rId2"/>
            <a:stretch>
              <a:fillRect l="0" t="0" r="0" b="0"/>
            </a:stretch>
          </a:blipFill>
        </p:spPr>
      </p:sp>
      <p:sp>
        <p:nvSpPr>
          <p:cNvPr name="Freeform 21" id="21"/>
          <p:cNvSpPr/>
          <p:nvPr/>
        </p:nvSpPr>
        <p:spPr>
          <a:xfrm flipH="false" flipV="false" rot="9478157">
            <a:off x="7330749" y="8912312"/>
            <a:ext cx="4148729" cy="2368547"/>
          </a:xfrm>
          <a:custGeom>
            <a:avLst/>
            <a:gdLst/>
            <a:ahLst/>
            <a:cxnLst/>
            <a:rect r="r" b="b" t="t" l="l"/>
            <a:pathLst>
              <a:path h="2368547" w="4148729">
                <a:moveTo>
                  <a:pt x="0" y="0"/>
                </a:moveTo>
                <a:lnTo>
                  <a:pt x="4148728" y="0"/>
                </a:lnTo>
                <a:lnTo>
                  <a:pt x="4148728" y="2368546"/>
                </a:lnTo>
                <a:lnTo>
                  <a:pt x="0" y="236854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4543355">
            <a:off x="16079277" y="4096933"/>
            <a:ext cx="4509781" cy="2574675"/>
          </a:xfrm>
          <a:custGeom>
            <a:avLst/>
            <a:gdLst/>
            <a:ahLst/>
            <a:cxnLst/>
            <a:rect r="r" b="b" t="t" l="l"/>
            <a:pathLst>
              <a:path h="2574675" w="4509781">
                <a:moveTo>
                  <a:pt x="0" y="0"/>
                </a:moveTo>
                <a:lnTo>
                  <a:pt x="4509781" y="0"/>
                </a:lnTo>
                <a:lnTo>
                  <a:pt x="4509781" y="2574675"/>
                </a:lnTo>
                <a:lnTo>
                  <a:pt x="0" y="257467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625534">
            <a:off x="4422859" y="-852006"/>
            <a:ext cx="4148729" cy="2368547"/>
          </a:xfrm>
          <a:custGeom>
            <a:avLst/>
            <a:gdLst/>
            <a:ahLst/>
            <a:cxnLst/>
            <a:rect r="r" b="b" t="t" l="l"/>
            <a:pathLst>
              <a:path h="2368547" w="4148729">
                <a:moveTo>
                  <a:pt x="0" y="0"/>
                </a:moveTo>
                <a:lnTo>
                  <a:pt x="4148729" y="0"/>
                </a:lnTo>
                <a:lnTo>
                  <a:pt x="4148729" y="2368547"/>
                </a:lnTo>
                <a:lnTo>
                  <a:pt x="0" y="236854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DAHVQ6wJjuo</dc:identifier>
  <dcterms:modified xsi:type="dcterms:W3CDTF">2011-08-01T06:04:30Z</dcterms:modified>
  <cp:revision>1</cp:revision>
  <dc:title>Project Phase-!!</dc:title>
</cp:coreProperties>
</file>